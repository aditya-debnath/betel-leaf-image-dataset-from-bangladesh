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344" r:id="rId5"/>
    <p:sldId id="345" r:id="rId6"/>
    <p:sldId id="348" r:id="rId7"/>
    <p:sldId id="351" r:id="rId8"/>
    <p:sldId id="346" r:id="rId9"/>
    <p:sldId id="352" r:id="rId10"/>
    <p:sldId id="380" r:id="rId11"/>
    <p:sldId id="381" r:id="rId12"/>
    <p:sldId id="347" r:id="rId13"/>
    <p:sldId id="366" r:id="rId14"/>
    <p:sldId id="374" r:id="rId15"/>
    <p:sldId id="368" r:id="rId16"/>
    <p:sldId id="369" r:id="rId17"/>
    <p:sldId id="370" r:id="rId18"/>
    <p:sldId id="371" r:id="rId19"/>
    <p:sldId id="372" r:id="rId20"/>
    <p:sldId id="375" r:id="rId21"/>
    <p:sldId id="373" r:id="rId22"/>
    <p:sldId id="376" r:id="rId23"/>
    <p:sldId id="367" r:id="rId24"/>
    <p:sldId id="377" r:id="rId25"/>
    <p:sldId id="378" r:id="rId26"/>
    <p:sldId id="379" r:id="rId27"/>
    <p:sldId id="349" r:id="rId28"/>
    <p:sldId id="350" r:id="rId29"/>
    <p:sldId id="354" r:id="rId30"/>
    <p:sldId id="355" r:id="rId31"/>
    <p:sldId id="35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A3D024-909B-3BC2-1496-FEEAB652808A}" name="Sher Dionisio" initials="" userId="S::Sher.Dionisio@teksystemsgs.com::02daa716-9709-4d47-a153-1943ce1675c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928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>
        <p:guide orient="horz" pos="175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109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440F78-2C9E-4C7F-818C-B40BB19D3A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D3FB98-80B9-4155-809A-82659D34A0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18EB1-FF96-47AA-9A30-F1BFF2FFD1F7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DEF847-3492-4888-9C23-1504238536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48C54-2332-4748-9C65-6A27E550C1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75FB2-D12E-4669-8522-D3E2C7E6DC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991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4A361-7934-4769-9B16-8A939698742C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8E0B9-48E4-499D-93B2-B07D00395B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043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29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700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345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167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461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244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0261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37A81-50DD-A5FD-E044-E9E6EB999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4C668-2994-F9D3-0A75-57A59C43C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6800B-3D7F-C556-6D6A-07B84B485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D17CE-E483-65C1-96D3-A4031D967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1101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F351B-457F-F171-B5A9-8E7C83333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BB483-6D11-28AE-3005-62572A861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E9CAA-8AD0-00EE-F9A8-E43F039DE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3ED67-7825-2EEB-91D2-48373863C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8339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AA0FB-58CB-D30C-5438-F62FF4E5A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D5388-CC04-48B4-6C4E-CF4634FA6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114CE-2435-DE01-BF34-F01C9AAAD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998F7-CE8E-21B0-D3FA-65EF1F7DB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5572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1E989-37E4-A972-115E-6648D2CED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D847A9-82FA-1749-F669-A7A64FD66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1EF7D2-45FD-37F9-64A1-BA621D5C0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DB6E1-8880-66F2-9812-D0914E997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5599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D5EB0-AA37-79CD-120F-51F0B0896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FD3633-4A11-5CC0-DE03-812986EFE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D6024E-4199-1CCC-7BBC-D15AACFA5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D5631-FBDC-49E5-97FC-16FCCBAA6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7949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E22CA-6385-CC70-17A0-0246D6645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71FECC-9173-326C-1547-815BA5A52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A733F0-17E8-435D-86C1-B649A1047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CEB1A-2D36-169C-8C16-C7979F247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4051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5BCCB-B284-6566-9CAA-790F34482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BED700-0B06-971B-F0EB-3E37295E4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D45382-DB67-C792-6C46-93F03B085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E85D8-D75F-CEC5-5BE5-E9E391D6C8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7064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FADAF-EB9C-9D53-6DC2-9DEECC8D7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8383DB-4C3C-11E1-086F-143F70D64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A4F619-B0A8-5728-9779-66BADD779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37B1C-082B-0992-3DC2-693E486535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2892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A4B99-D31D-F2D6-D2B0-1BA0D403D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2E5C59-FD87-121E-7B2C-586B3924E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7E729-7761-47BE-D6C3-2BEA9A04E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E3E81-D970-7447-8C42-BC5559A72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8834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8F6EC-D274-B63E-6E4E-FB1F9B05D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7164F5-C325-B3F1-0267-DF13E7225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8A6A93-3CAF-2EA6-1FA4-598FD33BD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F66A1-6087-984A-ECF2-8C88B4B5C9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22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D7EDF-C2CD-4C9C-9E74-FC6DD2340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B0B903-CF0A-2D03-1124-47C05E316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AED99-2829-BA1C-E0AD-2C60F6C74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5D2C4-DB0D-C666-AC59-310FB2770C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6517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13769-A29C-EB5C-1A02-6B9329C0B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3DBAE7-8E47-3B6E-6B7E-F5436DE49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932BD5-6B50-67E3-7FEA-C9FCF4AC5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E5678-152F-94F0-78BC-C901A3B9FB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1050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C7A4C-BD83-4EB7-9C9F-925C99DE5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DA2F04-4B49-B68B-32DA-9C14813F6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8A505E-044D-E646-BEF7-04F011CFD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2ABC6-A2A2-B2BB-BB37-0A5401C53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0980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8058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0999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4755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1147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878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A39D92-9919-A80E-44FF-6B912E85073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8788" y="457200"/>
            <a:ext cx="11274425" cy="5943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2FF34D-C8F8-1796-647D-D17056A27E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1955" y="612475"/>
            <a:ext cx="4701904" cy="3079029"/>
          </a:xfrm>
        </p:spPr>
        <p:txBody>
          <a:bodyPr anchor="b">
            <a:normAutofit/>
          </a:bodyPr>
          <a:lstStyle>
            <a:lvl1pPr algn="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0768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C229E2-8757-94D8-A1B6-702189DCC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3249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77143C8-CDFF-B937-C00C-5E7B509399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83920"/>
            <a:ext cx="4114800" cy="50596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82637A1-1BB4-AF51-24C3-6FE78DD45D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438400"/>
            <a:ext cx="4799012" cy="3505200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  <a:lvl2pPr marL="457200" indent="0">
              <a:lnSpc>
                <a:spcPct val="125000"/>
              </a:lnSpc>
              <a:buNone/>
              <a:defRPr sz="1600"/>
            </a:lvl2pPr>
            <a:lvl3pPr marL="914400" indent="0">
              <a:lnSpc>
                <a:spcPct val="125000"/>
              </a:lnSpc>
              <a:buNone/>
              <a:defRPr sz="1400"/>
            </a:lvl3pPr>
            <a:lvl4pPr marL="1371600" indent="0">
              <a:lnSpc>
                <a:spcPct val="125000"/>
              </a:lnSpc>
              <a:buNone/>
              <a:defRPr sz="1200"/>
            </a:lvl4pPr>
            <a:lvl5pPr marL="1828800" indent="0">
              <a:lnSpc>
                <a:spcPct val="125000"/>
              </a:lnSpc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56F59DF2-AB3C-B7B3-826A-636B8CC5AB3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68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737016-0B2B-9F81-7A77-63223C486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34E572-08FE-0439-A460-8DFE1183A6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8742" y="914399"/>
            <a:ext cx="4798858" cy="502919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1EB46EC-087C-B8FF-2363-B99FAE983B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5713413" cy="50292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2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1D49246-C641-C3BA-F07B-89FFC6CDA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853439"/>
            <a:ext cx="4802373" cy="2833689"/>
          </a:xfrm>
        </p:spPr>
        <p:txBody>
          <a:bodyPr rIns="914400" anchor="b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BE7E1DF-A70C-8F79-9B76-72B2A7B4DC7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931919"/>
            <a:ext cx="4802735" cy="207264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CD5F637-DFBF-7FED-7CD5-F46A26E5CD1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33E3B934-3E16-21AF-8F5A-9EFD93255705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05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D872928-B479-F7C5-9C83-C448FBA36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20445"/>
            <a:ext cx="4114800" cy="50292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61E3771A-E1EB-0CBE-828C-2C5E1F2AE6C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75227" y="1020445"/>
            <a:ext cx="4802735" cy="5029200"/>
          </a:xfrm>
        </p:spPr>
        <p:txBody>
          <a:bodyPr anchor="ctr">
            <a:normAutofit/>
          </a:bodyPr>
          <a:lstStyle>
            <a:lvl1pPr marL="22860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lvl1pPr>
            <a:lvl2pPr marL="41148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/>
            </a:lvl2pPr>
            <a:lvl3pPr marL="59436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/>
            </a:lvl3pPr>
            <a:lvl4pPr marL="77724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/>
            </a:lvl4pPr>
            <a:lvl5pPr marL="96012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A1635D-96F0-769B-4ECB-70502770A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4F877767-0342-A344-0462-A0D877FF68F8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152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21F215D-0D9E-64B3-1F66-E90B87932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00741"/>
            <a:ext cx="4802372" cy="278891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E86A4459-11C2-44C6-0173-C666D5AADC1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825239"/>
            <a:ext cx="4802735" cy="207264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84EF14-0982-D931-9DD6-ECFE61D5B0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7D7E927E-4F73-5579-4F1D-E13899DEEA0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06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0" y="2153285"/>
            <a:ext cx="4953001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09360" y="2153285"/>
            <a:ext cx="5135880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5D7E8F5-692D-24DD-0F8C-9563BA74AAF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43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1" y="2153285"/>
            <a:ext cx="3261359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 b="1"/>
            </a:lvl1pPr>
            <a:lvl2pPr>
              <a:spcBef>
                <a:spcPts val="1000"/>
              </a:spcBef>
              <a:spcAft>
                <a:spcPts val="1200"/>
              </a:spcAft>
              <a:defRPr sz="1600" b="1"/>
            </a:lvl2pPr>
            <a:lvl3pPr>
              <a:spcBef>
                <a:spcPts val="1000"/>
              </a:spcBef>
              <a:spcAft>
                <a:spcPts val="1200"/>
              </a:spcAft>
              <a:defRPr sz="1400" b="1"/>
            </a:lvl3pPr>
            <a:lvl4pPr>
              <a:spcBef>
                <a:spcPts val="1000"/>
              </a:spcBef>
              <a:spcAft>
                <a:spcPts val="1200"/>
              </a:spcAft>
              <a:defRPr sz="1200" b="1"/>
            </a:lvl4pPr>
            <a:lvl5pPr>
              <a:spcBef>
                <a:spcPts val="1000"/>
              </a:spcBef>
              <a:spcAft>
                <a:spcPts val="1200"/>
              </a:spcAft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480560" y="2153285"/>
            <a:ext cx="6964680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C0F1533-3810-C210-9B67-D2F4A1846C23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16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9C70371-D147-2B29-EAEB-B10A799D09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169" y="614812"/>
            <a:ext cx="10359659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5AE226-98C6-70F4-8DED-59E8FE3040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67" y="2177378"/>
            <a:ext cx="5713413" cy="4669987"/>
          </a:xfrm>
          <a:custGeom>
            <a:avLst/>
            <a:gdLst>
              <a:gd name="connsiteX0" fmla="*/ 400038 w 5713413"/>
              <a:gd name="connsiteY0" fmla="*/ 0 h 4669987"/>
              <a:gd name="connsiteX1" fmla="*/ 5713413 w 5713413"/>
              <a:gd name="connsiteY1" fmla="*/ 0 h 4669987"/>
              <a:gd name="connsiteX2" fmla="*/ 5713413 w 5713413"/>
              <a:gd name="connsiteY2" fmla="*/ 4315224 h 4669987"/>
              <a:gd name="connsiteX3" fmla="*/ 400038 w 5713413"/>
              <a:gd name="connsiteY3" fmla="*/ 4315224 h 4669987"/>
              <a:gd name="connsiteX4" fmla="*/ 0 w 5713413"/>
              <a:gd name="connsiteY4" fmla="*/ 0 h 4669987"/>
              <a:gd name="connsiteX5" fmla="*/ 386684 w 5713413"/>
              <a:gd name="connsiteY5" fmla="*/ 0 h 4669987"/>
              <a:gd name="connsiteX6" fmla="*/ 386684 w 5713413"/>
              <a:gd name="connsiteY6" fmla="*/ 4328578 h 4669987"/>
              <a:gd name="connsiteX7" fmla="*/ 5713413 w 5713413"/>
              <a:gd name="connsiteY7" fmla="*/ 4328578 h 4669987"/>
              <a:gd name="connsiteX8" fmla="*/ 5713413 w 5713413"/>
              <a:gd name="connsiteY8" fmla="*/ 4669987 h 4669987"/>
              <a:gd name="connsiteX9" fmla="*/ 0 w 5713413"/>
              <a:gd name="connsiteY9" fmla="*/ 4669987 h 4669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13413" h="4669987">
                <a:moveTo>
                  <a:pt x="400038" y="0"/>
                </a:moveTo>
                <a:lnTo>
                  <a:pt x="5713413" y="0"/>
                </a:lnTo>
                <a:lnTo>
                  <a:pt x="5713413" y="4315224"/>
                </a:lnTo>
                <a:lnTo>
                  <a:pt x="400038" y="4315224"/>
                </a:lnTo>
                <a:close/>
                <a:moveTo>
                  <a:pt x="0" y="0"/>
                </a:moveTo>
                <a:lnTo>
                  <a:pt x="386684" y="0"/>
                </a:lnTo>
                <a:lnTo>
                  <a:pt x="386684" y="4328578"/>
                </a:lnTo>
                <a:lnTo>
                  <a:pt x="5713413" y="4328578"/>
                </a:lnTo>
                <a:lnTo>
                  <a:pt x="5713413" y="4669987"/>
                </a:lnTo>
                <a:lnTo>
                  <a:pt x="0" y="46699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EEA9034-22FD-3C2F-6A27-6363896980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153285"/>
            <a:ext cx="4799012" cy="3790315"/>
          </a:xfrm>
        </p:spPr>
        <p:txBody>
          <a:bodyPr>
            <a:normAutofit/>
          </a:bodyPr>
          <a:lstStyle>
            <a:lvl1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2000"/>
            </a:lvl1pPr>
            <a:lvl2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800"/>
            </a:lvl2pPr>
            <a:lvl3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600"/>
            </a:lvl3pPr>
            <a:lvl4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400"/>
            </a:lvl4pPr>
            <a:lvl5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72AFED-AF5A-A2E9-0D36-388733BBE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7A42E613-3DCC-07A2-BA9B-74B13F28E59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90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30338E2-B50A-8F3E-2CA7-A75753E7E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2629" y="598947"/>
            <a:ext cx="1051560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C8DD029-A673-92B9-0343-3B35BE46D2F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9641" y="2153285"/>
            <a:ext cx="3032759" cy="3790310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6E658BA3-0202-C705-7A02-8B70B788442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724400" y="2170621"/>
            <a:ext cx="6553200" cy="3772974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BD761E53-47C7-492A-D5B5-A8C2740B5157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95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2" y="2153285"/>
            <a:ext cx="6925660" cy="3500438"/>
          </a:xfrm>
        </p:spPr>
        <p:txBody>
          <a:bodyPr lIns="91440">
            <a:normAutofit/>
          </a:bodyPr>
          <a:lstStyle>
            <a:lvl1pPr marL="0" indent="0">
              <a:spcBef>
                <a:spcPts val="1000"/>
              </a:spcBef>
              <a:spcAft>
                <a:spcPts val="1200"/>
              </a:spcAft>
              <a:buNone/>
              <a:defRPr sz="1800" b="0"/>
            </a:lvl1pPr>
            <a:lvl2pPr marL="228600">
              <a:spcBef>
                <a:spcPts val="1000"/>
              </a:spcBef>
              <a:spcAft>
                <a:spcPts val="1200"/>
              </a:spcAft>
              <a:defRPr sz="1800" b="0"/>
            </a:lvl2pPr>
            <a:lvl3pPr marL="685800">
              <a:spcBef>
                <a:spcPts val="1000"/>
              </a:spcBef>
              <a:spcAft>
                <a:spcPts val="1200"/>
              </a:spcAft>
              <a:defRPr sz="1800" b="0"/>
            </a:lvl3pPr>
            <a:lvl4pPr marL="868680">
              <a:spcBef>
                <a:spcPts val="1000"/>
              </a:spcBef>
              <a:spcAft>
                <a:spcPts val="1200"/>
              </a:spcAft>
              <a:defRPr sz="1800" b="0"/>
            </a:lvl4pPr>
            <a:lvl5pPr marL="1143000">
              <a:spcBef>
                <a:spcPts val="1000"/>
              </a:spcBef>
              <a:spcAft>
                <a:spcPts val="1200"/>
              </a:spcAft>
              <a:defRPr sz="18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215745" y="2153285"/>
            <a:ext cx="3229495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 b="1"/>
            </a:lvl1pPr>
            <a:lvl2pPr>
              <a:spcBef>
                <a:spcPts val="1000"/>
              </a:spcBef>
              <a:spcAft>
                <a:spcPts val="1200"/>
              </a:spcAft>
              <a:defRPr sz="1600" b="1"/>
            </a:lvl2pPr>
            <a:lvl3pPr>
              <a:spcBef>
                <a:spcPts val="1000"/>
              </a:spcBef>
              <a:spcAft>
                <a:spcPts val="1200"/>
              </a:spcAft>
              <a:defRPr sz="1400" b="1"/>
            </a:lvl3pPr>
            <a:lvl4pPr>
              <a:spcBef>
                <a:spcPts val="1000"/>
              </a:spcBef>
              <a:spcAft>
                <a:spcPts val="1200"/>
              </a:spcAft>
              <a:defRPr sz="1200" b="1"/>
            </a:lvl4pPr>
            <a:lvl5pPr>
              <a:spcBef>
                <a:spcPts val="1000"/>
              </a:spcBef>
              <a:spcAft>
                <a:spcPts val="1200"/>
              </a:spcAft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C9F70CF1-DCAD-AE71-6B34-7BFB25EE530B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235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33145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0CF90928-AB48-3554-E2B9-417A00F286A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930275" y="2168526"/>
            <a:ext cx="10331450" cy="393906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D6C0A7-887A-66E2-A954-5E0592B9F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688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BB1E76-5845-01C9-1D0D-03CFFE6F0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6C21AF-4286-DECE-37A1-E8980687A1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655320"/>
            <a:ext cx="4572000" cy="5486400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E1D6B3-3EC8-6AC4-BE2B-5C732C85679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773680"/>
            <a:ext cx="4572000" cy="336804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457200" indent="0">
              <a:spcBef>
                <a:spcPts val="1000"/>
              </a:spcBef>
              <a:buNone/>
              <a:defRPr sz="1600"/>
            </a:lvl2pPr>
            <a:lvl3pPr marL="914400" indent="0">
              <a:spcBef>
                <a:spcPts val="1000"/>
              </a:spcBef>
              <a:buNone/>
              <a:defRPr sz="1400"/>
            </a:lvl3pPr>
            <a:lvl4pPr marL="1371600" indent="0">
              <a:spcBef>
                <a:spcPts val="1000"/>
              </a:spcBef>
              <a:buNone/>
              <a:defRPr sz="1200"/>
            </a:lvl4pPr>
            <a:lvl5pPr marL="1828800" indent="0"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1139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1920" userDrawn="1">
          <p15:clr>
            <a:srgbClr val="F26B43"/>
          </p15:clr>
        </p15:guide>
        <p15:guide id="4" pos="5760" userDrawn="1">
          <p15:clr>
            <a:srgbClr val="F26B43"/>
          </p15:clr>
        </p15:guide>
        <p15:guide id="5" pos="7248" userDrawn="1">
          <p15:clr>
            <a:srgbClr val="F26B43"/>
          </p15:clr>
        </p15:guide>
        <p15:guide id="6" pos="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mendeley.com/datasets/g7fpgj57wc/2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data.mendeley.com/datasets/vpzkntzjty/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group of potted plants">
            <a:extLst>
              <a:ext uri="{FF2B5EF4-FFF2-40B4-BE49-F238E27FC236}">
                <a16:creationId xmlns:a16="http://schemas.microsoft.com/office/drawing/2014/main" id="{C5E399AE-C2DC-0BE4-A179-9A726D23FFC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5" r="15"/>
          <a:stretch/>
        </p:blipFill>
        <p:spPr>
          <a:xfrm>
            <a:off x="458788" y="457200"/>
            <a:ext cx="11274425" cy="59436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26ABF06-5491-8319-408F-AC9C03E64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3788" y="612475"/>
            <a:ext cx="7420071" cy="3079029"/>
          </a:xfrm>
        </p:spPr>
        <p:txBody>
          <a:bodyPr>
            <a:normAutofit/>
          </a:bodyPr>
          <a:lstStyle/>
          <a:p>
            <a:r>
              <a:rPr lang="en-US" b="1" i="0" dirty="0">
                <a:effectLst/>
                <a:latin typeface="Inter"/>
              </a:rPr>
              <a:t>Detailed Model Analysis for Betel Leaf Disease Classification</a:t>
            </a:r>
            <a:br>
              <a:rPr lang="en-US" b="1" i="0" dirty="0">
                <a:effectLst/>
                <a:highlight>
                  <a:srgbClr val="000080"/>
                </a:highlight>
                <a:latin typeface="Inter"/>
              </a:rPr>
            </a:b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3D5AA1-2C74-6DFA-8CC4-723CE25A15F8}"/>
              </a:ext>
            </a:extLst>
          </p:cNvPr>
          <p:cNvSpPr txBox="1"/>
          <p:nvPr/>
        </p:nvSpPr>
        <p:spPr>
          <a:xfrm>
            <a:off x="8794376" y="3846779"/>
            <a:ext cx="2752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Inter"/>
              </a:rPr>
              <a:t>CSE366 – Sec 01 –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085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4B7D88-18D8-7250-6364-BECA6F65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83920"/>
            <a:ext cx="4114800" cy="2979868"/>
          </a:xfrm>
        </p:spPr>
        <p:txBody>
          <a:bodyPr/>
          <a:lstStyle/>
          <a:p>
            <a:r>
              <a:rPr lang="en-US" dirty="0"/>
              <a:t>Team Members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C0D5F39-EF49-BECB-8276-8B8A46F07AC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883921"/>
            <a:ext cx="5178425" cy="2979868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Seendid</a:t>
            </a:r>
            <a:r>
              <a:rPr lang="en-US" dirty="0"/>
              <a:t> Saleh Kabir </a:t>
            </a:r>
          </a:p>
          <a:p>
            <a:r>
              <a:rPr lang="en-US" dirty="0"/>
              <a:t>ID: 2022-1-60-122 </a:t>
            </a:r>
          </a:p>
          <a:p>
            <a:r>
              <a:rPr lang="en-US" dirty="0"/>
              <a:t>Aditya Debnath</a:t>
            </a:r>
          </a:p>
          <a:p>
            <a:r>
              <a:rPr lang="en-US" dirty="0"/>
              <a:t>ID: 2022-2-60-124 </a:t>
            </a:r>
          </a:p>
          <a:p>
            <a:r>
              <a:rPr lang="en-US" dirty="0"/>
              <a:t>Umme Habiba</a:t>
            </a:r>
          </a:p>
          <a:p>
            <a:r>
              <a:rPr lang="en-US" dirty="0"/>
              <a:t>ID: 2022-1-60-362 </a:t>
            </a:r>
          </a:p>
          <a:p>
            <a:r>
              <a:rPr lang="en-US" dirty="0"/>
              <a:t>Md. Afridi</a:t>
            </a:r>
          </a:p>
          <a:p>
            <a:r>
              <a:rPr lang="en-US" dirty="0"/>
              <a:t>ID: 2022-3-60-080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165451-7F61-9113-F05B-DC372B221031}"/>
              </a:ext>
            </a:extLst>
          </p:cNvPr>
          <p:cNvSpPr txBox="1"/>
          <p:nvPr/>
        </p:nvSpPr>
        <p:spPr>
          <a:xfrm>
            <a:off x="914400" y="4656729"/>
            <a:ext cx="51784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latin typeface="Bodoni MT"/>
                <a:ea typeface="+mj-ea"/>
                <a:cs typeface="+mj-cs"/>
              </a:rPr>
              <a:t>Instructor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odoni MT"/>
                <a:ea typeface="+mj-ea"/>
                <a:cs typeface="+mj-cs"/>
              </a:rPr>
              <a:t> 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ED5C94-C738-6ECE-58D3-2A2607CAB7A2}"/>
              </a:ext>
            </a:extLst>
          </p:cNvPr>
          <p:cNvSpPr txBox="1"/>
          <p:nvPr/>
        </p:nvSpPr>
        <p:spPr>
          <a:xfrm>
            <a:off x="6099177" y="4518229"/>
            <a:ext cx="51784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Dr. Raihan </a:t>
            </a:r>
            <a:r>
              <a:rPr lang="en-US" dirty="0" err="1"/>
              <a:t>Ul</a:t>
            </a:r>
            <a:r>
              <a:rPr lang="en-US" dirty="0"/>
              <a:t> Islam, </a:t>
            </a:r>
          </a:p>
          <a:p>
            <a:r>
              <a:rPr lang="en-US" dirty="0"/>
              <a:t>Associate Professor, </a:t>
            </a:r>
          </a:p>
          <a:p>
            <a:r>
              <a:rPr lang="en-US" dirty="0"/>
              <a:t>East West University</a:t>
            </a:r>
          </a:p>
        </p:txBody>
      </p:sp>
    </p:spTree>
    <p:extLst>
      <p:ext uri="{BB962C8B-B14F-4D97-AF65-F5344CB8AC3E}">
        <p14:creationId xmlns:p14="http://schemas.microsoft.com/office/powerpoint/2010/main" val="810374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A951FD-B055-4EE8-B6D9-62EC0F39D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20445"/>
            <a:ext cx="4114800" cy="5029200"/>
          </a:xfrm>
        </p:spPr>
        <p:txBody>
          <a:bodyPr/>
          <a:lstStyle/>
          <a:p>
            <a:r>
              <a:rPr lang="en-US" dirty="0"/>
              <a:t>Introduction &amp; Problem Statement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C5F8EB2-8936-F0AC-DA2A-4A5609BEA7E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475227" y="1020445"/>
            <a:ext cx="4802735" cy="5029200"/>
          </a:xfrm>
        </p:spPr>
        <p:txBody>
          <a:bodyPr/>
          <a:lstStyle/>
          <a:p>
            <a:r>
              <a:rPr lang="en-US" b="1" dirty="0"/>
              <a:t>The Crop: </a:t>
            </a:r>
            <a:r>
              <a:rPr lang="en-US" dirty="0"/>
              <a:t>Betel Leaf (Piper </a:t>
            </a:r>
            <a:r>
              <a:rPr lang="en-US" dirty="0" err="1"/>
              <a:t>betle</a:t>
            </a:r>
            <a:r>
              <a:rPr lang="en-US" dirty="0"/>
              <a:t> L.)  is vital cash crop in South Asia.</a:t>
            </a:r>
          </a:p>
          <a:p>
            <a:r>
              <a:rPr lang="en-US" b="1" dirty="0"/>
              <a:t>The Problem: </a:t>
            </a:r>
            <a:r>
              <a:rPr lang="en-US" dirty="0"/>
              <a:t> High susceptibility to diseases (Bacterial Spot, Foot Rot, Fungal Spot).</a:t>
            </a:r>
          </a:p>
          <a:p>
            <a:r>
              <a:rPr lang="en-US" b="1" dirty="0"/>
              <a:t>Current Solution: </a:t>
            </a:r>
            <a:r>
              <a:rPr lang="en-US" dirty="0"/>
              <a:t>Manual visual inspection.</a:t>
            </a:r>
          </a:p>
          <a:p>
            <a:r>
              <a:rPr lang="en-US" b="1" dirty="0"/>
              <a:t>Limitations: </a:t>
            </a:r>
            <a:r>
              <a:rPr lang="en-US" dirty="0"/>
              <a:t>Subjective, labor-intensive, prone to human error, requires experts.</a:t>
            </a:r>
          </a:p>
          <a:p>
            <a:r>
              <a:rPr lang="en-US" b="1" dirty="0"/>
              <a:t>Proposed Solution:</a:t>
            </a:r>
            <a:r>
              <a:rPr lang="en-US" dirty="0"/>
              <a:t> Automated, precision driven diagnostic tool using Deep Learning. </a:t>
            </a:r>
          </a:p>
        </p:txBody>
      </p:sp>
    </p:spTree>
    <p:extLst>
      <p:ext uri="{BB962C8B-B14F-4D97-AF65-F5344CB8AC3E}">
        <p14:creationId xmlns:p14="http://schemas.microsoft.com/office/powerpoint/2010/main" val="762554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364034-5F15-4B68-638D-779A619AC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85113"/>
            <a:ext cx="10515600" cy="1531525"/>
          </a:xfrm>
        </p:spPr>
        <p:txBody>
          <a:bodyPr/>
          <a:lstStyle/>
          <a:p>
            <a:r>
              <a:rPr lang="en-US" dirty="0"/>
              <a:t>Research Objectives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51A4F1-ABAF-2D28-B31B-A6DC9942FA1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29640" y="2153285"/>
            <a:ext cx="10515600" cy="3500438"/>
          </a:xfrm>
        </p:spPr>
        <p:txBody>
          <a:bodyPr/>
          <a:lstStyle/>
          <a:p>
            <a:r>
              <a:rPr lang="en-US" b="1" dirty="0"/>
              <a:t>Benchmark:</a:t>
            </a:r>
            <a:r>
              <a:rPr lang="en-US" dirty="0"/>
              <a:t> Evaluate standard Transfer Learning models against Custom CNNs.</a:t>
            </a:r>
          </a:p>
          <a:p>
            <a:r>
              <a:rPr lang="en-US" b="1" dirty="0"/>
              <a:t>Innovate:</a:t>
            </a:r>
            <a:r>
              <a:rPr lang="en-US" dirty="0"/>
              <a:t> Develop and test a Hybrid CNN-</a:t>
            </a:r>
            <a:r>
              <a:rPr lang="en-US" dirty="0" err="1"/>
              <a:t>Swin</a:t>
            </a:r>
            <a:r>
              <a:rPr lang="en-US" dirty="0"/>
              <a:t> Transformer architecture.</a:t>
            </a:r>
          </a:p>
          <a:p>
            <a:r>
              <a:rPr lang="en-US" b="1" dirty="0"/>
              <a:t>Analyze: </a:t>
            </a:r>
            <a:r>
              <a:rPr lang="en-US" dirty="0"/>
              <a:t>Compare the impact of Attention Mechanisms (CBAM, SE-Blocks).</a:t>
            </a:r>
          </a:p>
          <a:p>
            <a:r>
              <a:rPr lang="en-US" b="1" dirty="0"/>
              <a:t>Validate: </a:t>
            </a:r>
            <a:r>
              <a:rPr lang="en-US" dirty="0"/>
              <a:t>Ensure robustness on imbalanced datasets and visualize decisions using XAI (Grad-CAM).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AD58C6-6F47-0261-9611-E968042F55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076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304888D-B78B-26F5-9075-CDA3C673C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541" y="625642"/>
            <a:ext cx="8247912" cy="1604212"/>
          </a:xfrm>
        </p:spPr>
        <p:txBody>
          <a:bodyPr>
            <a:normAutofit/>
          </a:bodyPr>
          <a:lstStyle/>
          <a:p>
            <a:r>
              <a:rPr lang="en-US" dirty="0"/>
              <a:t>Evaluation Metrics &amp; Protocol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4B4DB1-B825-8D69-B96F-CD8CAD11310B}"/>
              </a:ext>
            </a:extLst>
          </p:cNvPr>
          <p:cNvSpPr txBox="1"/>
          <p:nvPr/>
        </p:nvSpPr>
        <p:spPr>
          <a:xfrm>
            <a:off x="687541" y="2229854"/>
            <a:ext cx="792707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prstClr val="black"/>
                </a:solidFill>
              </a:rPr>
              <a:t>Dataset: </a:t>
            </a:r>
            <a:r>
              <a:rPr lang="en-US" dirty="0">
                <a:solidFill>
                  <a:prstClr val="black"/>
                </a:solidFill>
              </a:rPr>
              <a:t>1,000 Images (Balanced) + Secondary Imbalanced Test Set.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Ha</a:t>
            </a:r>
            <a:r>
              <a:rPr lang="en-US" b="1" dirty="0" err="1">
                <a:solidFill>
                  <a:prstClr val="black"/>
                </a:solidFill>
              </a:rPr>
              <a:t>rdware</a:t>
            </a:r>
            <a:r>
              <a:rPr lang="en-US" b="1" dirty="0">
                <a:solidFill>
                  <a:prstClr val="black"/>
                </a:solidFill>
              </a:rPr>
              <a:t>: </a:t>
            </a:r>
            <a:r>
              <a:rPr lang="en-US" dirty="0">
                <a:solidFill>
                  <a:prstClr val="black"/>
                </a:solidFill>
              </a:rPr>
              <a:t>CUDA-enabled GPPU (Tesla P100/T4)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Key Metrics Recorded:</a:t>
            </a:r>
            <a:endParaRPr lang="en-US" b="1" dirty="0">
              <a:solidFill>
                <a:prstClr val="black"/>
              </a:solidFill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black"/>
                </a:solidFill>
              </a:rPr>
              <a:t>        Test Accuracy (%)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black"/>
                </a:solidFill>
              </a:rPr>
              <a:t>        Training Time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black"/>
                </a:solidFill>
              </a:rPr>
              <a:t>        Loss Convergence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black"/>
                </a:solidFill>
              </a:rPr>
              <a:t>         Confusion Matrix Performance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i="0" dirty="0">
                <a:effectLst/>
              </a:rPr>
              <a:t>Preprocessing: </a:t>
            </a:r>
            <a:r>
              <a:rPr lang="en-US" b="0" i="0" dirty="0">
                <a:effectLst/>
              </a:rPr>
              <a:t>Resize (224x224), Normalization (ImageNet stats), Augmentation (Rotation, Flip, Color Jitter).</a:t>
            </a:r>
            <a:r>
              <a:rPr lang="en-US" dirty="0"/>
              <a:t> 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1577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B5244AC-D906-A60B-5023-D0289CF4F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69" y="614812"/>
            <a:ext cx="10359659" cy="1325563"/>
          </a:xfrm>
        </p:spPr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3F9FB22-CA85-FC72-AA81-4708F62AB6C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981280" y="1178658"/>
            <a:ext cx="5713413" cy="5190058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Source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Betal</a:t>
            </a:r>
            <a:r>
              <a:rPr lang="en-US" dirty="0">
                <a:solidFill>
                  <a:schemeClr val="tx1"/>
                </a:solidFill>
              </a:rPr>
              <a:t> Leaf Image Dataset from Bangladesh.</a:t>
            </a:r>
          </a:p>
          <a:p>
            <a:r>
              <a:rPr lang="en-US" b="1" dirty="0">
                <a:solidFill>
                  <a:schemeClr val="tx1"/>
                </a:solidFill>
              </a:rPr>
              <a:t>Class (4)</a:t>
            </a:r>
            <a:r>
              <a:rPr lang="en-US" dirty="0">
                <a:solidFill>
                  <a:schemeClr val="tx1"/>
                </a:solidFill>
              </a:rPr>
              <a:t>: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  1. Bacterial Leaf Disease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  2. Dried Leaf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  3. Fungal Brown Spot Disease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  4. Healthy Leaf</a:t>
            </a:r>
          </a:p>
          <a:p>
            <a:r>
              <a:rPr lang="en-US" b="1" dirty="0">
                <a:solidFill>
                  <a:schemeClr val="tx1"/>
                </a:solidFill>
              </a:rPr>
              <a:t>Data Splits</a:t>
            </a:r>
            <a:r>
              <a:rPr lang="en-US" dirty="0">
                <a:solidFill>
                  <a:schemeClr val="tx1"/>
                </a:solidFill>
              </a:rPr>
              <a:t>: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    </a:t>
            </a:r>
            <a:r>
              <a:rPr lang="en-US" b="0" i="0" dirty="0">
                <a:solidFill>
                  <a:schemeClr val="tx1"/>
                </a:solidFill>
                <a:effectLst/>
              </a:rPr>
              <a:t>Dataset 1 (Balanced): 1,000 images </a:t>
            </a:r>
            <a:br>
              <a:rPr lang="en-US" b="0" i="0" dirty="0">
                <a:solidFill>
                  <a:schemeClr val="tx1"/>
                </a:solidFill>
                <a:effectLst/>
              </a:rPr>
            </a:br>
            <a:r>
              <a:rPr lang="en-US" b="0" i="0" dirty="0">
                <a:solidFill>
                  <a:schemeClr val="tx1"/>
                </a:solidFill>
                <a:effectLst/>
              </a:rPr>
              <a:t>                             (250/class). Used for training. </a:t>
            </a:r>
            <a:br>
              <a:rPr lang="en-US" b="0" i="0" dirty="0">
                <a:solidFill>
                  <a:schemeClr val="tx1"/>
                </a:solidFill>
                <a:effectLst/>
              </a:rPr>
            </a:br>
            <a:r>
              <a:rPr lang="en-US" b="0" i="0" dirty="0">
                <a:solidFill>
                  <a:schemeClr val="tx1"/>
                </a:solidFill>
                <a:effectLst/>
              </a:rPr>
              <a:t>         Dataset 2 (Imbalanced):** Real-world </a:t>
            </a:r>
            <a:br>
              <a:rPr lang="en-US" b="0" i="0" dirty="0">
                <a:solidFill>
                  <a:schemeClr val="tx1"/>
                </a:solidFill>
                <a:effectLst/>
              </a:rPr>
            </a:br>
            <a:r>
              <a:rPr lang="en-US" b="0" i="0" dirty="0">
                <a:solidFill>
                  <a:schemeClr val="tx1"/>
                </a:solidFill>
                <a:effectLst/>
              </a:rPr>
              <a:t>                             distribution (High variance in class </a:t>
            </a:r>
            <a:br>
              <a:rPr lang="en-US" b="0" i="0" dirty="0">
                <a:solidFill>
                  <a:schemeClr val="tx1"/>
                </a:solidFill>
                <a:effectLst/>
              </a:rPr>
            </a:br>
            <a:r>
              <a:rPr lang="en-US" b="0" i="0" dirty="0">
                <a:solidFill>
                  <a:schemeClr val="tx1"/>
                </a:solidFill>
                <a:effectLst/>
              </a:rPr>
              <a:t>                             counts). Used for robustness testing.</a:t>
            </a:r>
          </a:p>
          <a:p>
            <a:r>
              <a:rPr lang="en-US" b="1" i="0" dirty="0">
                <a:solidFill>
                  <a:schemeClr val="tx1"/>
                </a:solidFill>
                <a:effectLst/>
              </a:rPr>
              <a:t>Preprocessing:</a:t>
            </a:r>
            <a:r>
              <a:rPr lang="en-US" b="0" i="0" dirty="0">
                <a:solidFill>
                  <a:schemeClr val="tx1"/>
                </a:solidFill>
                <a:effectLst/>
              </a:rPr>
              <a:t> Resize (224x224), Normalization (ImageNet stats), Augmentation (Rotation, Flip, Color Jitter).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8CC2E-BB8C-CF5A-C460-C662927C0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1B7F918-4605-BA77-87B9-26B1FAC5D11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457" r="457"/>
          <a:stretch/>
        </p:blipFill>
        <p:spPr/>
      </p:pic>
    </p:spTree>
    <p:extLst>
      <p:ext uri="{BB962C8B-B14F-4D97-AF65-F5344CB8AC3E}">
        <p14:creationId xmlns:p14="http://schemas.microsoft.com/office/powerpoint/2010/main" val="2902754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8A1C1B1-EB09-9B19-4821-BED42941D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43" y="571266"/>
            <a:ext cx="5470357" cy="1032946"/>
          </a:xfrm>
        </p:spPr>
        <p:txBody>
          <a:bodyPr>
            <a:normAutofit/>
          </a:bodyPr>
          <a:lstStyle/>
          <a:p>
            <a:r>
              <a:rPr lang="en-US" dirty="0"/>
              <a:t>Methodology – The Models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3CCCFBF-19D3-A93E-F5C6-1E540F87299E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6475413" y="1944301"/>
            <a:ext cx="5090944" cy="3373465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4D5126-AACE-4D24-4EB4-B4AB2E378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DC25EE-9F4E-41DF-E03A-373584FF7A99}"/>
              </a:ext>
            </a:extLst>
          </p:cNvPr>
          <p:cNvSpPr txBox="1"/>
          <p:nvPr/>
        </p:nvSpPr>
        <p:spPr>
          <a:xfrm>
            <a:off x="625643" y="1604212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Category 1: </a:t>
            </a:r>
            <a:r>
              <a:rPr lang="en-US" dirty="0"/>
              <a:t> Transfer Learning Baselines</a:t>
            </a:r>
          </a:p>
          <a:p>
            <a:r>
              <a:rPr lang="en-US" dirty="0"/>
              <a:t>          InceptionV3, ResNet50, MobileNetV2, DenseNet121, </a:t>
            </a:r>
            <a:br>
              <a:rPr lang="en-US" dirty="0"/>
            </a:br>
            <a:r>
              <a:rPr lang="en-US" dirty="0"/>
              <a:t>          </a:t>
            </a:r>
            <a:r>
              <a:rPr lang="en-US" dirty="0" err="1"/>
              <a:t>Xception</a:t>
            </a:r>
            <a:r>
              <a:rPr lang="en-US" dirty="0"/>
              <a:t>, VGG16, AlexNet, EfficientNet-B0</a:t>
            </a:r>
          </a:p>
          <a:p>
            <a:r>
              <a:rPr lang="en-US" b="1" dirty="0"/>
              <a:t>Category 2: </a:t>
            </a:r>
            <a:r>
              <a:rPr lang="en-US" dirty="0"/>
              <a:t>Custom Architectures</a:t>
            </a:r>
            <a:endParaRPr lang="en-US" b="1" dirty="0"/>
          </a:p>
          <a:p>
            <a:r>
              <a:rPr lang="en-US" dirty="0"/>
              <a:t>          Custom Sequential CNN (Lightweight convolutions).</a:t>
            </a:r>
          </a:p>
          <a:p>
            <a:r>
              <a:rPr lang="en-US" dirty="0"/>
              <a:t>          BLCNN (Depth-wise separable convolutions).</a:t>
            </a:r>
          </a:p>
          <a:p>
            <a:r>
              <a:rPr lang="en-US" b="1" dirty="0"/>
              <a:t>Category 3: </a:t>
            </a:r>
            <a:r>
              <a:rPr lang="en-US" dirty="0"/>
              <a:t>Advanced Hybrid &amp; Attention</a:t>
            </a:r>
          </a:p>
          <a:p>
            <a:r>
              <a:rPr lang="en-US" b="1" dirty="0"/>
              <a:t>          Hybrid CNN-</a:t>
            </a:r>
            <a:r>
              <a:rPr lang="en-US" b="1" dirty="0" err="1"/>
              <a:t>Swin</a:t>
            </a:r>
            <a:r>
              <a:rPr lang="en-US" b="1" dirty="0"/>
              <a:t> Transformer: </a:t>
            </a:r>
            <a:r>
              <a:rPr lang="en-US" dirty="0"/>
              <a:t>Combines local features </a:t>
            </a:r>
            <a:br>
              <a:rPr lang="en-US" dirty="0"/>
            </a:br>
            <a:r>
              <a:rPr lang="en-US" dirty="0"/>
              <a:t>          (CNN) + global context (Transformer).</a:t>
            </a:r>
          </a:p>
          <a:p>
            <a:r>
              <a:rPr lang="en-US" b="1" dirty="0"/>
              <a:t>          CBAM-CNN: </a:t>
            </a:r>
            <a:r>
              <a:rPr lang="en-US" dirty="0"/>
              <a:t>Spatial + Channel Attention.</a:t>
            </a:r>
          </a:p>
          <a:p>
            <a:r>
              <a:rPr lang="en-US" b="1" dirty="0"/>
              <a:t>          SE-</a:t>
            </a:r>
            <a:r>
              <a:rPr lang="en-US" b="1" dirty="0" err="1"/>
              <a:t>ResNet</a:t>
            </a:r>
            <a:r>
              <a:rPr lang="en-US" b="1" dirty="0"/>
              <a:t>: </a:t>
            </a:r>
            <a:r>
              <a:rPr lang="en-US" dirty="0"/>
              <a:t>Squeeze-and-Excitation blocks.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80389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D598AA8-CAA1-745A-4A5B-DD13D5AC9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Architecture: </a:t>
            </a:r>
            <a:br>
              <a:rPr lang="en-US" dirty="0"/>
            </a:br>
            <a:r>
              <a:rPr lang="en-US" dirty="0"/>
              <a:t>Hybrid CNN-</a:t>
            </a:r>
            <a:r>
              <a:rPr lang="en-US" dirty="0" err="1"/>
              <a:t>Swin</a:t>
            </a:r>
            <a:r>
              <a:rPr lang="en-US" dirty="0"/>
              <a:t> Transformer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C58D60-B530-0BA3-FC23-CCF28E4900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2AB415-BF2C-C1F8-DDE0-F058561FA849}"/>
              </a:ext>
            </a:extLst>
          </p:cNvPr>
          <p:cNvSpPr txBox="1"/>
          <p:nvPr/>
        </p:nvSpPr>
        <p:spPr>
          <a:xfrm>
            <a:off x="929639" y="2016638"/>
            <a:ext cx="267983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Components: </a:t>
            </a:r>
          </a:p>
          <a:p>
            <a:r>
              <a:rPr lang="en-US" b="1" dirty="0"/>
              <a:t>         CNN Stem: </a:t>
            </a:r>
            <a:r>
              <a:rPr lang="en-US" dirty="0"/>
              <a:t>Extracts low-level textural features (edges, shapes).</a:t>
            </a:r>
          </a:p>
          <a:p>
            <a:r>
              <a:rPr lang="en-US" b="1" dirty="0"/>
              <a:t>         </a:t>
            </a:r>
            <a:r>
              <a:rPr lang="en-US" b="1" dirty="0" err="1"/>
              <a:t>Swin</a:t>
            </a:r>
            <a:r>
              <a:rPr lang="en-US" b="1" dirty="0"/>
              <a:t> Transformer Blocks: </a:t>
            </a:r>
            <a:r>
              <a:rPr lang="en-US" dirty="0"/>
              <a:t>Captures long-range dependencies and global context using shifted windows.</a:t>
            </a:r>
          </a:p>
          <a:p>
            <a:r>
              <a:rPr lang="en-US" b="1" dirty="0"/>
              <a:t>         Classification Head: </a:t>
            </a:r>
            <a:r>
              <a:rPr lang="en-US" dirty="0"/>
              <a:t>Global Average Pooling +Dense Layers.</a:t>
            </a:r>
            <a:endParaRPr lang="en-US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F1E1F8C-5943-6D73-8B59-76A452995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897" y="1737360"/>
            <a:ext cx="5297480" cy="41300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E504383-4E09-8D53-1532-35887235A1CD}"/>
              </a:ext>
            </a:extLst>
          </p:cNvPr>
          <p:cNvSpPr txBox="1"/>
          <p:nvPr/>
        </p:nvSpPr>
        <p:spPr>
          <a:xfrm>
            <a:off x="6013640" y="5867400"/>
            <a:ext cx="4288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Picture of data splitting on the Dataset 2.</a:t>
            </a:r>
          </a:p>
        </p:txBody>
      </p:sp>
    </p:spTree>
    <p:extLst>
      <p:ext uri="{BB962C8B-B14F-4D97-AF65-F5344CB8AC3E}">
        <p14:creationId xmlns:p14="http://schemas.microsoft.com/office/powerpoint/2010/main" val="692038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21905908-61C5-E80D-F570-D84DB7527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53440"/>
            <a:ext cx="10748212" cy="863066"/>
          </a:xfrm>
        </p:spPr>
        <p:txBody>
          <a:bodyPr>
            <a:normAutofit fontScale="90000"/>
          </a:bodyPr>
          <a:lstStyle/>
          <a:p>
            <a:r>
              <a:rPr lang="en-US" dirty="0"/>
              <a:t>Section 1: Transfer Learning Baselines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7CC1959B-E6A9-5770-EC41-43538A9E36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46483" y="1716506"/>
            <a:ext cx="5342022" cy="559870"/>
          </a:xfrm>
        </p:spPr>
        <p:txBody>
          <a:bodyPr/>
          <a:lstStyle/>
          <a:p>
            <a:r>
              <a:rPr lang="en-US" dirty="0"/>
              <a:t>Evaluating industry-standard pre-trained architectures.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FB631E-916A-F5C4-509C-EC3B89B87DFC}"/>
              </a:ext>
            </a:extLst>
          </p:cNvPr>
          <p:cNvSpPr txBox="1"/>
          <p:nvPr/>
        </p:nvSpPr>
        <p:spPr>
          <a:xfrm>
            <a:off x="914399" y="2276376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prstClr val="black">
                    <a:lumMod val="75000"/>
                    <a:lumOff val="25000"/>
                  </a:prstClr>
                </a:solidFill>
                <a:latin typeface="Bodoni MT"/>
                <a:ea typeface="+mj-ea"/>
                <a:cs typeface="+mj-cs"/>
              </a:rPr>
              <a:t>Model 1 – InceptionV3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F3B915-5F59-F561-D1C0-06868D248B70}"/>
              </a:ext>
            </a:extLst>
          </p:cNvPr>
          <p:cNvSpPr txBox="1"/>
          <p:nvPr/>
        </p:nvSpPr>
        <p:spPr>
          <a:xfrm>
            <a:off x="946483" y="3283078"/>
            <a:ext cx="6063916" cy="3100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Architecture Type:</a:t>
            </a:r>
            <a:r>
              <a:rPr lang="en-US" b="0" i="0" dirty="0">
                <a:effectLst/>
              </a:rPr>
              <a:t> Deep CNN with Inception Modules (Multi-scale processing).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Training Configuration:</a:t>
            </a:r>
            <a:r>
              <a:rPr lang="en-US" b="0" i="0" dirty="0">
                <a:effectLst/>
              </a:rPr>
              <a:t> Transfer Learning (ImageNet weights), Fine-tuned.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Performance: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Accuracy:</a:t>
            </a:r>
            <a:r>
              <a:rPr lang="en-US" b="0" i="0" dirty="0">
                <a:effectLst/>
              </a:rPr>
              <a:t> </a:t>
            </a:r>
            <a:r>
              <a:rPr lang="en-US" b="1" i="0" dirty="0">
                <a:effectLst/>
              </a:rPr>
              <a:t>96.7%</a:t>
            </a:r>
            <a:r>
              <a:rPr lang="en-US" b="0" i="0" dirty="0">
                <a:effectLst/>
              </a:rPr>
              <a:t> (Top Performer in Baselines)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Training Time:</a:t>
            </a:r>
            <a:r>
              <a:rPr lang="en-US" b="0" i="0" dirty="0">
                <a:effectLst/>
              </a:rPr>
              <a:t> ~3.09 mins</a:t>
            </a:r>
            <a:br>
              <a:rPr lang="en-US" b="0" i="0" dirty="0">
                <a:effectLst/>
              </a:rPr>
            </a:br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Analysis: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Excellent generalization.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The multi-scale filters allowed it to detect disease spots of varying sizes effectively.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Verdict:</a:t>
            </a:r>
            <a:r>
              <a:rPr lang="en-US" b="0" i="0" dirty="0">
                <a:effectLst/>
              </a:rPr>
              <a:t> Best standard CNN for this task.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4B7850-F38F-55C1-1AB1-8DDF8F432490}"/>
              </a:ext>
            </a:extLst>
          </p:cNvPr>
          <p:cNvSpPr txBox="1"/>
          <p:nvPr/>
        </p:nvSpPr>
        <p:spPr>
          <a:xfrm>
            <a:off x="914399" y="37474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Experimental Result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BB6BE-66AD-6DC1-8046-0699C0AB7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783" y="1640015"/>
            <a:ext cx="4840828" cy="19787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35D3FA-1EEE-B2B7-6252-C28D1DBB4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4944" y="3821539"/>
            <a:ext cx="1292337" cy="11506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5EE5D0-066E-59AF-104C-59671D29A7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398" y="4972157"/>
            <a:ext cx="1426883" cy="11341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4B0F544-5DE6-9378-05E8-DE4DDAC966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1827" y="3618779"/>
            <a:ext cx="3090784" cy="27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108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B90F8-663A-6CF2-661C-D5A988AEC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7AF5CDD-78AE-1E66-1DE2-F89929BC18D9}"/>
              </a:ext>
            </a:extLst>
          </p:cNvPr>
          <p:cNvSpPr txBox="1"/>
          <p:nvPr/>
        </p:nvSpPr>
        <p:spPr>
          <a:xfrm>
            <a:off x="946483" y="845727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prstClr val="black">
                    <a:lumMod val="75000"/>
                    <a:lumOff val="25000"/>
                  </a:prstClr>
                </a:solidFill>
                <a:latin typeface="Bodoni MT"/>
                <a:ea typeface="+mj-ea"/>
                <a:cs typeface="+mj-cs"/>
              </a:rPr>
              <a:t>Model 2 – ResNet50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E78BD2-D920-A4C3-EBB8-2370BC264A9D}"/>
              </a:ext>
            </a:extLst>
          </p:cNvPr>
          <p:cNvSpPr txBox="1"/>
          <p:nvPr/>
        </p:nvSpPr>
        <p:spPr>
          <a:xfrm>
            <a:off x="946483" y="2368678"/>
            <a:ext cx="6096000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Architecture Type:</a:t>
            </a:r>
            <a:r>
              <a:rPr lang="en-US" b="0" i="0" dirty="0">
                <a:effectLst/>
              </a:rPr>
              <a:t> Residual Network (50 layers) with skip connections.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Training Configuration:</a:t>
            </a:r>
            <a:r>
              <a:rPr lang="en-US" b="0" i="0" dirty="0">
                <a:effectLst/>
              </a:rPr>
              <a:t> Pre-trained, Early Stopping enabled.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Performance: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Accuracy:</a:t>
            </a:r>
            <a:r>
              <a:rPr lang="en-US" b="0" i="0" dirty="0">
                <a:effectLst/>
              </a:rPr>
              <a:t> 95.0%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Training Time:</a:t>
            </a:r>
            <a:r>
              <a:rPr lang="en-US" b="0" i="0" dirty="0">
                <a:effectLst/>
              </a:rPr>
              <a:t> ~1.56 mins</a:t>
            </a:r>
            <a:br>
              <a:rPr lang="en-US" b="0" i="0" dirty="0">
                <a:effectLst/>
              </a:rPr>
            </a:br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Analysis: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Very fast convergence.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Solved vanishing gradient issues effectively.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Verdict:</a:t>
            </a:r>
            <a:r>
              <a:rPr lang="en-US" b="0" i="0" dirty="0">
                <a:effectLst/>
              </a:rPr>
              <a:t> Highly reliable and efficient, second only to InceptionV3 among baselines.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409087-28F8-02EF-9BAA-40EBE74C8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824" y="805502"/>
            <a:ext cx="4309133" cy="17424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E3C251-7619-009A-85C0-C9E9B3753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9371" y="3429000"/>
            <a:ext cx="1553453" cy="13617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4C2C547-3F45-7295-1A2B-08071822F3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1881" y="5073452"/>
            <a:ext cx="1660943" cy="13617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809D525-0304-A760-9809-E09DE17BD4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2547" y="2651090"/>
            <a:ext cx="4309134" cy="378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107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35BCA-9690-D333-4EAA-60BA2C5C8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931FB47-BD83-4B64-A145-4902A6B577CA}"/>
              </a:ext>
            </a:extLst>
          </p:cNvPr>
          <p:cNvSpPr txBox="1"/>
          <p:nvPr/>
        </p:nvSpPr>
        <p:spPr>
          <a:xfrm>
            <a:off x="946482" y="845727"/>
            <a:ext cx="63045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prstClr val="black">
                    <a:lumMod val="75000"/>
                    <a:lumOff val="25000"/>
                  </a:prstClr>
                </a:solidFill>
                <a:latin typeface="Bodoni MT"/>
                <a:ea typeface="+mj-ea"/>
                <a:cs typeface="+mj-cs"/>
              </a:rPr>
              <a:t>Model 3 – MobileNetV2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71284-8408-D5C3-776B-21D273AA3482}"/>
              </a:ext>
            </a:extLst>
          </p:cNvPr>
          <p:cNvSpPr txBox="1"/>
          <p:nvPr/>
        </p:nvSpPr>
        <p:spPr>
          <a:xfrm>
            <a:off x="946483" y="2368678"/>
            <a:ext cx="6096000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Architecture Type:</a:t>
            </a:r>
            <a:r>
              <a:rPr lang="en-US" b="0" i="0" dirty="0">
                <a:effectLst/>
              </a:rPr>
              <a:t>  Lightweight CNN with Depth-wise Separable Convolutions.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Training Configuration:</a:t>
            </a:r>
            <a:r>
              <a:rPr lang="en-US" b="0" i="0" dirty="0">
                <a:effectLst/>
              </a:rPr>
              <a:t>  Standard Transfer Learning.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Performance: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Accuracy:</a:t>
            </a:r>
            <a:r>
              <a:rPr lang="en-US" b="0" i="0" dirty="0">
                <a:effectLst/>
              </a:rPr>
              <a:t> 94.0%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Training Time:</a:t>
            </a:r>
            <a:r>
              <a:rPr lang="en-US" b="0" i="0" dirty="0">
                <a:effectLst/>
              </a:rPr>
              <a:t> ~1.44 mins</a:t>
            </a:r>
            <a:br>
              <a:rPr lang="en-US" b="0" i="0" dirty="0">
                <a:effectLst/>
              </a:rPr>
            </a:br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Analysis: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dirty="0"/>
              <a:t>Designed for mobile devices; extremely low latency.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dirty="0"/>
              <a:t>Performed comparably to the much heavier RedNet50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Verdict: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Ideal candidate for mobile app deployment if resources are tight.</a:t>
            </a:r>
            <a:endParaRPr lang="en-US" b="0" i="0" dirty="0">
              <a:effectLst/>
            </a:endParaRP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A72AE4-4913-4996-6828-100C00279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031" y="972997"/>
            <a:ext cx="4322783" cy="17951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66F97E-F6E9-1261-321B-47CB0DD2F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582" y="2895408"/>
            <a:ext cx="1587802" cy="1390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AB8C45-B653-8AE0-8359-05779408EC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4916" y="5101659"/>
            <a:ext cx="1761468" cy="13907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00CC8E-B053-3219-5D78-CF9EECF4CC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6384" y="2824121"/>
            <a:ext cx="3737430" cy="362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101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59571-04C2-C297-1EA5-7260EA0BD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9422BA4-B2CF-68A1-AC07-006E561ABA0A}"/>
              </a:ext>
            </a:extLst>
          </p:cNvPr>
          <p:cNvSpPr txBox="1"/>
          <p:nvPr/>
        </p:nvSpPr>
        <p:spPr>
          <a:xfrm>
            <a:off x="946482" y="845727"/>
            <a:ext cx="64168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prstClr val="black">
                    <a:lumMod val="75000"/>
                    <a:lumOff val="25000"/>
                  </a:prstClr>
                </a:solidFill>
                <a:latin typeface="Bodoni MT"/>
                <a:ea typeface="+mj-ea"/>
                <a:cs typeface="+mj-cs"/>
              </a:rPr>
              <a:t>Model 4 – DenseNet121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91F27D-B112-6611-BB9B-C3AD1B57A9A9}"/>
              </a:ext>
            </a:extLst>
          </p:cNvPr>
          <p:cNvSpPr txBox="1"/>
          <p:nvPr/>
        </p:nvSpPr>
        <p:spPr>
          <a:xfrm>
            <a:off x="946483" y="2368678"/>
            <a:ext cx="6096000" cy="3762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Architecture Type: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Densely Connected Convolutional Network.</a:t>
            </a:r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Training Configuration: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Fine-tuned (Unfrozen deeper layers)</a:t>
            </a:r>
            <a:r>
              <a:rPr lang="en-US" b="0" i="0" dirty="0">
                <a:effectLst/>
              </a:rPr>
              <a:t>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Performance: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Accuracy:</a:t>
            </a:r>
            <a:r>
              <a:rPr lang="en-US" b="0" i="0" dirty="0">
                <a:effectLst/>
              </a:rPr>
              <a:t> 94.0%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Training Time:</a:t>
            </a:r>
            <a:r>
              <a:rPr lang="en-US" b="0" i="0" dirty="0">
                <a:effectLst/>
              </a:rPr>
              <a:t> ~</a:t>
            </a:r>
            <a:r>
              <a:rPr lang="en-US" dirty="0"/>
              <a:t>131 seconds (Higher computational cost).</a:t>
            </a:r>
            <a:br>
              <a:rPr lang="en-US" b="0" i="0" dirty="0">
                <a:effectLst/>
              </a:rPr>
            </a:br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Analysis: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dirty="0"/>
              <a:t>Feature reuse makes it powerful but computationally expensive</a:t>
            </a:r>
            <a:r>
              <a:rPr lang="en-US" b="0" i="0" dirty="0">
                <a:effectLst/>
              </a:rPr>
              <a:t>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dirty="0"/>
              <a:t>Did not significantly outperform </a:t>
            </a:r>
            <a:r>
              <a:rPr lang="en-US" dirty="0" err="1"/>
              <a:t>MobileNet</a:t>
            </a:r>
            <a:r>
              <a:rPr lang="en-US" dirty="0"/>
              <a:t> despite higher complexity</a:t>
            </a:r>
            <a:r>
              <a:rPr lang="en-US" b="0" i="0" dirty="0">
                <a:effectLst/>
              </a:rPr>
              <a:t>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Verdict: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Good accuracy, but diminishing returns on efficiency</a:t>
            </a:r>
            <a:r>
              <a:rPr lang="en-US" b="0" i="0" dirty="0">
                <a:effectLst/>
              </a:rPr>
              <a:t>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D207D2-2FD1-0B29-BC5E-A70082927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639" y="726755"/>
            <a:ext cx="4614418" cy="18891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9DB25F-4355-3619-744A-F887C42AF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2483" y="2918639"/>
            <a:ext cx="1832055" cy="16010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BC1288-15A5-438E-59BF-62A76DA5A3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2483" y="4822432"/>
            <a:ext cx="1687964" cy="13868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BCA367-361E-B21E-0401-0F98BD0C104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225"/>
          <a:stretch/>
        </p:blipFill>
        <p:spPr>
          <a:xfrm>
            <a:off x="8874538" y="3280896"/>
            <a:ext cx="2904070" cy="278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505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31758-2B23-2785-42FB-E8EF3936B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7F9B1B7-28B0-20A3-AF8A-BB8242D79769}"/>
              </a:ext>
            </a:extLst>
          </p:cNvPr>
          <p:cNvSpPr txBox="1"/>
          <p:nvPr/>
        </p:nvSpPr>
        <p:spPr>
          <a:xfrm>
            <a:off x="946483" y="845727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prstClr val="black">
                    <a:lumMod val="75000"/>
                    <a:lumOff val="25000"/>
                  </a:prstClr>
                </a:solidFill>
                <a:latin typeface="Bodoni MT"/>
                <a:ea typeface="+mj-ea"/>
                <a:cs typeface="+mj-cs"/>
              </a:rPr>
              <a:t>Model 5 – AlexNet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0D9E5C-5185-B9FC-C87E-9A525DEADBBA}"/>
              </a:ext>
            </a:extLst>
          </p:cNvPr>
          <p:cNvSpPr txBox="1"/>
          <p:nvPr/>
        </p:nvSpPr>
        <p:spPr>
          <a:xfrm>
            <a:off x="946483" y="2368678"/>
            <a:ext cx="6096000" cy="3377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Architecture Type: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Classic shallow CNN (Large filters)</a:t>
            </a:r>
            <a:r>
              <a:rPr lang="en-US" b="0" i="0" dirty="0">
                <a:effectLst/>
              </a:rPr>
              <a:t>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Training Configuration:</a:t>
            </a:r>
            <a:r>
              <a:rPr lang="en-US" b="0" i="0" dirty="0">
                <a:effectLst/>
              </a:rPr>
              <a:t> Pre-trained</a:t>
            </a:r>
            <a:r>
              <a:rPr lang="en-US" dirty="0"/>
              <a:t> on ImageNet</a:t>
            </a:r>
            <a:r>
              <a:rPr lang="en-US" b="0" i="0" dirty="0">
                <a:effectLst/>
              </a:rPr>
              <a:t>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Performance: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Accuracy:</a:t>
            </a:r>
            <a:r>
              <a:rPr lang="en-US" b="0" i="0" dirty="0">
                <a:effectLst/>
              </a:rPr>
              <a:t> 92.0%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Training Time:</a:t>
            </a:r>
            <a:r>
              <a:rPr lang="en-US" b="0" i="0" dirty="0">
                <a:effectLst/>
              </a:rPr>
              <a:t> ~</a:t>
            </a:r>
            <a:r>
              <a:rPr lang="en-US" dirty="0"/>
              <a:t>50 seconds (Very Fast).</a:t>
            </a:r>
            <a:br>
              <a:rPr lang="en-US" b="0" i="0" dirty="0">
                <a:effectLst/>
              </a:rPr>
            </a:br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Analysis: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Surprise Finding: </a:t>
            </a:r>
            <a:r>
              <a:rPr lang="en-US" b="0" i="0" dirty="0">
                <a:effectLst/>
              </a:rPr>
              <a:t>Outperformed modern architectures like </a:t>
            </a:r>
            <a:r>
              <a:rPr lang="en-US" b="0" i="0" dirty="0" err="1">
                <a:effectLst/>
              </a:rPr>
              <a:t>EfficientNet</a:t>
            </a:r>
            <a:r>
              <a:rPr lang="en-US" b="0" i="0" dirty="0">
                <a:effectLst/>
              </a:rPr>
              <a:t> and </a:t>
            </a:r>
            <a:r>
              <a:rPr lang="en-US" b="0" i="0" dirty="0" err="1">
                <a:effectLst/>
              </a:rPr>
              <a:t>Xception</a:t>
            </a:r>
            <a:r>
              <a:rPr lang="en-US" b="0" i="0" dirty="0">
                <a:effectLst/>
              </a:rPr>
              <a:t>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Simpler inductive biases worked well for the specific morphological features of betel leaves.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Verdict: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Proof that older, simpler models can still be effective on smaller datasets</a:t>
            </a:r>
            <a:r>
              <a:rPr lang="en-US" b="0" i="0" dirty="0">
                <a:effectLst/>
              </a:rPr>
              <a:t>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F77ABF-EAF9-94B7-DC52-A46F2AB76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483" y="514532"/>
            <a:ext cx="4697140" cy="18941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EFC358-B3D4-92DE-848A-FAF187668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643" y="2477785"/>
            <a:ext cx="1769762" cy="15699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629A2C-C258-45F5-6534-01A82147F3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299" y="2884693"/>
            <a:ext cx="3665324" cy="33778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4ABA0C-B3F9-A972-83B8-8AEB6BD65A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897" y="5092861"/>
            <a:ext cx="1432507" cy="116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876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12B78-2344-A57A-9287-F703842FF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B1A3F8D-8E2F-9AC0-FDD9-939E067AEA7A}"/>
              </a:ext>
            </a:extLst>
          </p:cNvPr>
          <p:cNvSpPr txBox="1"/>
          <p:nvPr/>
        </p:nvSpPr>
        <p:spPr>
          <a:xfrm>
            <a:off x="946483" y="845727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prstClr val="black">
                    <a:lumMod val="75000"/>
                    <a:lumOff val="25000"/>
                  </a:prstClr>
                </a:solidFill>
                <a:latin typeface="Bodoni MT"/>
                <a:ea typeface="+mj-ea"/>
                <a:cs typeface="+mj-cs"/>
              </a:rPr>
              <a:t>Model 6 – VGG16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07210B-5EC2-9B01-C08F-34D481A43F48}"/>
              </a:ext>
            </a:extLst>
          </p:cNvPr>
          <p:cNvSpPr txBox="1"/>
          <p:nvPr/>
        </p:nvSpPr>
        <p:spPr>
          <a:xfrm>
            <a:off x="946483" y="2368678"/>
            <a:ext cx="5549597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Architecture Type: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Very Deep Convolutional Network (16 layers)</a:t>
            </a:r>
            <a:r>
              <a:rPr lang="en-US" b="0" i="0" dirty="0">
                <a:effectLst/>
              </a:rPr>
              <a:t>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Training Configuration: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Transfer Learning</a:t>
            </a:r>
            <a:r>
              <a:rPr lang="en-US" b="0" i="0" dirty="0">
                <a:effectLst/>
              </a:rPr>
              <a:t>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Performance: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Accuracy:</a:t>
            </a:r>
            <a:r>
              <a:rPr lang="en-US" b="0" i="0" dirty="0">
                <a:effectLst/>
              </a:rPr>
              <a:t> 91.0%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Training Time:</a:t>
            </a:r>
            <a:r>
              <a:rPr lang="en-US" b="0" i="0" dirty="0">
                <a:effectLst/>
              </a:rPr>
              <a:t> ~</a:t>
            </a:r>
            <a:r>
              <a:rPr lang="en-US" dirty="0"/>
              <a:t>2.19</a:t>
            </a:r>
            <a:r>
              <a:rPr lang="en-US" b="0" i="0" dirty="0">
                <a:effectLst/>
              </a:rPr>
              <a:t> mins</a:t>
            </a:r>
            <a:br>
              <a:rPr lang="en-US" b="0" i="0" dirty="0">
                <a:effectLst/>
              </a:rPr>
            </a:br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Analysis: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dirty="0"/>
              <a:t>High parameter count made it slower to train than </a:t>
            </a:r>
            <a:r>
              <a:rPr lang="en-US" dirty="0" err="1"/>
              <a:t>ResNet</a:t>
            </a:r>
            <a:r>
              <a:rPr lang="en-US" b="0" i="0" dirty="0">
                <a:effectLst/>
              </a:rPr>
              <a:t>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Solid feature extractor, but prone to overfitting without heavy regularization.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Verdict: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Decent performance, but outdated efficiency</a:t>
            </a:r>
            <a:r>
              <a:rPr lang="en-US" b="0" i="0" dirty="0">
                <a:effectLst/>
              </a:rPr>
              <a:t>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D67911-F802-F080-FD69-0A315C8AC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823" y="552450"/>
            <a:ext cx="5225970" cy="21443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A4F29D-D9A9-4B25-48D3-B96222784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1823" y="2696802"/>
            <a:ext cx="1883401" cy="16552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E13208-5535-62AD-9E67-E6B12EA7B8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080" y="4505991"/>
            <a:ext cx="1854886" cy="15062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BE6BF3-9514-C628-F6CF-D13CDCEBD1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851" y="2991927"/>
            <a:ext cx="3230942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198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9DE4D-B08A-52E6-3C77-A65F39A77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55C921-EFD7-C479-6682-2DCF991A3D65}"/>
              </a:ext>
            </a:extLst>
          </p:cNvPr>
          <p:cNvSpPr txBox="1"/>
          <p:nvPr/>
        </p:nvSpPr>
        <p:spPr>
          <a:xfrm>
            <a:off x="946483" y="845727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prstClr val="black">
                    <a:lumMod val="75000"/>
                    <a:lumOff val="25000"/>
                  </a:prstClr>
                </a:solidFill>
                <a:latin typeface="Bodoni MT"/>
                <a:ea typeface="+mj-ea"/>
                <a:cs typeface="+mj-cs"/>
              </a:rPr>
              <a:t>Model 7 – </a:t>
            </a:r>
            <a:r>
              <a:rPr lang="en-US" sz="48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Bodoni MT"/>
                <a:ea typeface="+mj-ea"/>
                <a:cs typeface="+mj-cs"/>
              </a:rPr>
              <a:t>Xception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55380D-FB25-9C42-EF43-71DBE8A58A81}"/>
              </a:ext>
            </a:extLst>
          </p:cNvPr>
          <p:cNvSpPr txBox="1"/>
          <p:nvPr/>
        </p:nvSpPr>
        <p:spPr>
          <a:xfrm>
            <a:off x="946482" y="2368678"/>
            <a:ext cx="6227203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Architecture Type: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Extreme Inception (Depth-wise separable </a:t>
            </a:r>
            <a:r>
              <a:rPr lang="en-US" dirty="0" err="1"/>
              <a:t>convs</a:t>
            </a:r>
            <a:r>
              <a:rPr lang="en-US" dirty="0"/>
              <a:t>)</a:t>
            </a:r>
            <a:r>
              <a:rPr lang="en-US" b="0" i="0" dirty="0">
                <a:effectLst/>
              </a:rPr>
              <a:t>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Training Configuration: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Fine-tuned with Early Stopping</a:t>
            </a:r>
            <a:r>
              <a:rPr lang="en-US" b="0" i="0" dirty="0">
                <a:effectLst/>
              </a:rPr>
              <a:t>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Performance: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Accuracy: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89</a:t>
            </a:r>
            <a:r>
              <a:rPr lang="en-US" b="0" i="0" dirty="0">
                <a:effectLst/>
              </a:rPr>
              <a:t>.0%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Training Time:</a:t>
            </a:r>
            <a:r>
              <a:rPr lang="en-US" b="0" i="0" dirty="0">
                <a:effectLst/>
              </a:rPr>
              <a:t> ~</a:t>
            </a:r>
            <a:r>
              <a:rPr lang="en-US" dirty="0"/>
              <a:t>242</a:t>
            </a:r>
            <a:r>
              <a:rPr lang="en-US" b="0" i="0" dirty="0">
                <a:effectLst/>
              </a:rPr>
              <a:t> seconds (Slowest among baselines).</a:t>
            </a:r>
            <a:br>
              <a:rPr lang="en-US" b="0" i="0" dirty="0">
                <a:effectLst/>
              </a:rPr>
            </a:br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Analysis: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dirty="0"/>
              <a:t>Struggled to generalize compared to InceptionV3</a:t>
            </a:r>
            <a:r>
              <a:rPr lang="en-US" b="0" i="0" dirty="0">
                <a:effectLst/>
              </a:rPr>
              <a:t>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dirty="0"/>
              <a:t>High training time suggested optimization difficulties on this specific dataset</a:t>
            </a:r>
            <a:r>
              <a:rPr lang="en-US" b="0" i="0" dirty="0">
                <a:effectLst/>
              </a:rPr>
              <a:t>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Verdict: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Underperformed relative to expectations</a:t>
            </a:r>
            <a:r>
              <a:rPr lang="en-US" b="0" i="0" dirty="0">
                <a:effectLst/>
              </a:rPr>
              <a:t>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80883F-9776-6698-D030-F9C822A80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696" y="500003"/>
            <a:ext cx="5177622" cy="20977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EF88B9-3982-321E-A071-8A60B05E2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2483" y="2678925"/>
            <a:ext cx="2029577" cy="17874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AB964D-01DE-2A82-2249-733244FE6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2692" y="3428999"/>
            <a:ext cx="2534625" cy="22724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B31DF6-C23E-7391-7946-41639BDBED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9185" y="4722471"/>
            <a:ext cx="2032875" cy="167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883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8E4C3-021E-516A-A72E-03F40A8D7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55EB57D-8FC9-A7B2-59E5-55FDDDD594DE}"/>
              </a:ext>
            </a:extLst>
          </p:cNvPr>
          <p:cNvSpPr txBox="1"/>
          <p:nvPr/>
        </p:nvSpPr>
        <p:spPr>
          <a:xfrm>
            <a:off x="946483" y="845727"/>
            <a:ext cx="70218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prstClr val="black">
                    <a:lumMod val="75000"/>
                    <a:lumOff val="25000"/>
                  </a:prstClr>
                </a:solidFill>
                <a:latin typeface="Bodoni MT"/>
                <a:ea typeface="+mj-ea"/>
                <a:cs typeface="+mj-cs"/>
              </a:rPr>
              <a:t>Model 8 – EfficientNet-B0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5F4DB1-0FE8-79CC-2FAD-691156BE274D}"/>
              </a:ext>
            </a:extLst>
          </p:cNvPr>
          <p:cNvSpPr txBox="1"/>
          <p:nvPr/>
        </p:nvSpPr>
        <p:spPr>
          <a:xfrm>
            <a:off x="946483" y="2368678"/>
            <a:ext cx="4678813" cy="3762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Architecture Type: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Compound Scaling CNN</a:t>
            </a:r>
            <a:r>
              <a:rPr lang="en-US" b="0" i="0" dirty="0">
                <a:effectLst/>
              </a:rPr>
              <a:t>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Training Configuration: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Transfer Learning</a:t>
            </a:r>
            <a:r>
              <a:rPr lang="en-US" b="0" i="0" dirty="0">
                <a:effectLst/>
              </a:rPr>
              <a:t>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Performance: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Accuracy: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87</a:t>
            </a:r>
            <a:r>
              <a:rPr lang="en-US" b="0" i="0" dirty="0">
                <a:effectLst/>
              </a:rPr>
              <a:t>.0%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Training Time:</a:t>
            </a:r>
            <a:r>
              <a:rPr lang="en-US" b="0" i="0" dirty="0">
                <a:effectLst/>
              </a:rPr>
              <a:t> ~1.16 mins</a:t>
            </a:r>
            <a:br>
              <a:rPr lang="en-US" b="0" i="0" dirty="0">
                <a:effectLst/>
              </a:rPr>
            </a:br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Analysis: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dirty="0"/>
              <a:t>Lowest performance among transfer learning models</a:t>
            </a:r>
            <a:r>
              <a:rPr lang="en-US" b="0" i="0" dirty="0">
                <a:effectLst/>
              </a:rPr>
              <a:t>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dirty="0"/>
              <a:t>Likely required more extensive hyperparameter tuning or a larger dataset to leverage its scaling capabilities</a:t>
            </a:r>
            <a:r>
              <a:rPr lang="en-US" b="0" i="0" dirty="0">
                <a:effectLst/>
              </a:rPr>
              <a:t>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Verdict: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Not suitable for this specific dataset configuration</a:t>
            </a:r>
            <a:r>
              <a:rPr lang="en-US" b="0" i="0" dirty="0">
                <a:effectLst/>
              </a:rPr>
              <a:t>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80F68E-2C63-59B1-76E0-657CA21DF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343" y="482536"/>
            <a:ext cx="3818422" cy="15573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B71215-6C84-3C9B-4C50-0BA6BE583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4354" y="1676724"/>
            <a:ext cx="2643989" cy="23423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A773BA-3ECD-841B-918C-ADB67AB865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9489" y="4019103"/>
            <a:ext cx="2514434" cy="20505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D76381-85C1-32B6-D674-F46354E6DC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8343" y="2368678"/>
            <a:ext cx="3703824" cy="358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669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92638-1C46-2384-754C-3C20AF37B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AF8BE6-8200-B6BF-CF88-D284BA490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720" y="1638377"/>
            <a:ext cx="7067550" cy="2486025"/>
          </a:xfrm>
          <a:prstGeom prst="rect">
            <a:avLst/>
          </a:prstGeom>
        </p:spPr>
      </p:pic>
      <p:sp>
        <p:nvSpPr>
          <p:cNvPr id="23" name="Title 22">
            <a:extLst>
              <a:ext uri="{FF2B5EF4-FFF2-40B4-BE49-F238E27FC236}">
                <a16:creationId xmlns:a16="http://schemas.microsoft.com/office/drawing/2014/main" id="{271A519D-4C26-EF5C-308F-AA139E07C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53440"/>
            <a:ext cx="10748212" cy="863066"/>
          </a:xfrm>
        </p:spPr>
        <p:txBody>
          <a:bodyPr>
            <a:normAutofit/>
          </a:bodyPr>
          <a:lstStyle/>
          <a:p>
            <a:r>
              <a:rPr lang="en-US" dirty="0"/>
              <a:t>Section 2: Custom Architectures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A20C455D-BFEE-5702-6CDA-2B232F5BD1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46483" y="1716506"/>
            <a:ext cx="5342022" cy="559870"/>
          </a:xfrm>
        </p:spPr>
        <p:txBody>
          <a:bodyPr/>
          <a:lstStyle/>
          <a:p>
            <a:r>
              <a:rPr lang="en-US" dirty="0"/>
              <a:t>Evaluating models built from scratch.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1C694C-F877-A8F1-92E5-338A1127E0A8}"/>
              </a:ext>
            </a:extLst>
          </p:cNvPr>
          <p:cNvSpPr txBox="1"/>
          <p:nvPr/>
        </p:nvSpPr>
        <p:spPr>
          <a:xfrm>
            <a:off x="914399" y="2276376"/>
            <a:ext cx="90902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prstClr val="black">
                    <a:lumMod val="75000"/>
                    <a:lumOff val="25000"/>
                  </a:prstClr>
                </a:solidFill>
                <a:latin typeface="Bodoni MT"/>
                <a:ea typeface="+mj-ea"/>
                <a:cs typeface="+mj-cs"/>
              </a:rPr>
              <a:t>Model 9 – Custom Sequential CNN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C61B21-82AA-A55B-46CC-DBDBC20C9BDB}"/>
              </a:ext>
            </a:extLst>
          </p:cNvPr>
          <p:cNvSpPr txBox="1"/>
          <p:nvPr/>
        </p:nvSpPr>
        <p:spPr>
          <a:xfrm>
            <a:off x="946482" y="3283078"/>
            <a:ext cx="4516769" cy="348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Architecture Type: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Standard CNN </a:t>
            </a:r>
            <a:br>
              <a:rPr lang="en-US" dirty="0"/>
            </a:br>
            <a:r>
              <a:rPr lang="en-US" dirty="0"/>
              <a:t>(Conv2D -&gt; </a:t>
            </a:r>
            <a:r>
              <a:rPr lang="en-US" dirty="0" err="1"/>
              <a:t>ReLU</a:t>
            </a:r>
            <a:r>
              <a:rPr lang="en-US" dirty="0"/>
              <a:t> -&gt; </a:t>
            </a:r>
            <a:r>
              <a:rPr lang="en-US" dirty="0" err="1"/>
              <a:t>MaxPool</a:t>
            </a:r>
            <a:r>
              <a:rPr lang="en-US" dirty="0"/>
              <a:t>)</a:t>
            </a:r>
            <a:r>
              <a:rPr lang="en-US" b="0" i="0" dirty="0">
                <a:effectLst/>
              </a:rPr>
              <a:t>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Training Configuration: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Trained from scratch (35 Epochs)</a:t>
            </a:r>
            <a:r>
              <a:rPr lang="en-US" b="0" i="0" dirty="0">
                <a:effectLst/>
              </a:rPr>
              <a:t>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Performance: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Accuracy:</a:t>
            </a:r>
            <a:r>
              <a:rPr lang="en-US" b="0" i="0" dirty="0">
                <a:effectLst/>
              </a:rPr>
              <a:t> </a:t>
            </a:r>
            <a:r>
              <a:rPr lang="en-US" b="1" dirty="0"/>
              <a:t>90</a:t>
            </a:r>
            <a:r>
              <a:rPr lang="en-US" b="1" i="0" dirty="0">
                <a:effectLst/>
              </a:rPr>
              <a:t>.0%</a:t>
            </a:r>
            <a:r>
              <a:rPr lang="en-US" b="0" i="0" dirty="0">
                <a:effectLst/>
              </a:rPr>
              <a:t> 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Training Time:</a:t>
            </a:r>
            <a:r>
              <a:rPr lang="en-US" b="0" i="0" dirty="0">
                <a:effectLst/>
              </a:rPr>
              <a:t> ~</a:t>
            </a:r>
            <a:r>
              <a:rPr lang="en-US" dirty="0"/>
              <a:t>20 seconds (Fastest).</a:t>
            </a:r>
            <a:br>
              <a:rPr lang="en-US" b="0" i="0" dirty="0">
                <a:effectLst/>
              </a:rPr>
            </a:br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Analysis: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dirty="0"/>
              <a:t>Strong baseline performance</a:t>
            </a:r>
            <a:r>
              <a:rPr lang="en-US" b="0" i="0" dirty="0">
                <a:effectLst/>
              </a:rPr>
              <a:t>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dirty="0"/>
              <a:t>Lacked the ability to capture fine-grained textures distinguishing bacterial vs. fungal spots</a:t>
            </a:r>
            <a:r>
              <a:rPr lang="en-US" b="0" i="0" dirty="0">
                <a:effectLst/>
              </a:rPr>
              <a:t>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Verdict: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Good starting point, but limited</a:t>
            </a:r>
            <a:r>
              <a:rPr lang="en-US" b="0" i="0" dirty="0">
                <a:effectLst/>
              </a:rPr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A12CD6-D675-59FC-378C-BB3A93A31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9758" y="4124402"/>
            <a:ext cx="1937493" cy="15959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79C2B3-902D-66E2-29D6-A8FE92F58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7251" y="4124402"/>
            <a:ext cx="1804065" cy="15959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394A68-2AC4-48B8-568F-4A9A24AE82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4753" y="560490"/>
            <a:ext cx="2518517" cy="10360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81732D1-55B2-F102-4084-2F87F10592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1316" y="4102926"/>
            <a:ext cx="2488513" cy="155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249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AAC69-2286-7774-70CD-998FEABF4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313AA89-93C8-5264-01F9-F730B7660C59}"/>
              </a:ext>
            </a:extLst>
          </p:cNvPr>
          <p:cNvSpPr txBox="1"/>
          <p:nvPr/>
        </p:nvSpPr>
        <p:spPr>
          <a:xfrm>
            <a:off x="946482" y="845727"/>
            <a:ext cx="100423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prstClr val="black">
                    <a:lumMod val="75000"/>
                    <a:lumOff val="25000"/>
                  </a:prstClr>
                </a:solidFill>
                <a:latin typeface="Bodoni MT"/>
                <a:ea typeface="+mj-ea"/>
                <a:cs typeface="+mj-cs"/>
              </a:rPr>
              <a:t>Model 10 – BLCNN (Betel Leaf CNN)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8B6FDD-B218-79D1-C2FD-11069757C103}"/>
              </a:ext>
            </a:extLst>
          </p:cNvPr>
          <p:cNvSpPr txBox="1"/>
          <p:nvPr/>
        </p:nvSpPr>
        <p:spPr>
          <a:xfrm>
            <a:off x="946483" y="2368678"/>
            <a:ext cx="5627937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Architecture Type: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Domain-specific custom architecture (based on literature)</a:t>
            </a:r>
            <a:r>
              <a:rPr lang="en-US" b="0" i="0" dirty="0">
                <a:effectLst/>
              </a:rPr>
              <a:t>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Training Configuration: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T</a:t>
            </a:r>
            <a:r>
              <a:rPr lang="en-US" b="0" i="0" dirty="0">
                <a:effectLst/>
              </a:rPr>
              <a:t>rained from scratch.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Performance: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Accuracy: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88</a:t>
            </a:r>
            <a:r>
              <a:rPr lang="en-US" b="0" i="0" dirty="0">
                <a:effectLst/>
              </a:rPr>
              <a:t>.87%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Training Time:</a:t>
            </a:r>
            <a:r>
              <a:rPr lang="en-US" b="0" i="0" dirty="0">
                <a:effectLst/>
              </a:rPr>
              <a:t> ~</a:t>
            </a:r>
            <a:r>
              <a:rPr lang="en-US" dirty="0"/>
              <a:t>31 </a:t>
            </a:r>
            <a:r>
              <a:rPr lang="en-US" b="0" i="0" dirty="0">
                <a:effectLst/>
              </a:rPr>
              <a:t>seconds.</a:t>
            </a:r>
            <a:br>
              <a:rPr lang="en-US" b="0" i="0" dirty="0">
                <a:effectLst/>
              </a:rPr>
            </a:br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Analysis: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dirty="0"/>
              <a:t>Performed slightly worse than the standard Custom CNN</a:t>
            </a:r>
            <a:r>
              <a:rPr lang="en-US" b="0" i="0" dirty="0">
                <a:effectLst/>
              </a:rPr>
              <a:t>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dirty="0"/>
              <a:t>Indicates that the specific architectural tweaks from literature didn’t transfer perfectly to our dataset split</a:t>
            </a:r>
            <a:r>
              <a:rPr lang="en-US" b="0" i="0" dirty="0">
                <a:effectLst/>
              </a:rPr>
              <a:t>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Verdict: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Less effective than standard designs</a:t>
            </a:r>
            <a:r>
              <a:rPr lang="en-US" b="0" i="0" dirty="0">
                <a:effectLst/>
              </a:rPr>
              <a:t>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5FF97A-CD79-8A71-7B65-70E2373E2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420" y="1676724"/>
            <a:ext cx="5098648" cy="20782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0B2CE5-D3A2-F609-CF15-55AA4C955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859538"/>
            <a:ext cx="2246031" cy="19747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B7308B-6020-8D4A-EEED-1860B89999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2031" y="3810378"/>
            <a:ext cx="2128991" cy="17429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A05C58-8387-D808-3518-5D8C9A0EE21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805"/>
          <a:stretch/>
        </p:blipFill>
        <p:spPr>
          <a:xfrm>
            <a:off x="10453671" y="3859538"/>
            <a:ext cx="1738329" cy="168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546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280CB-6010-C006-D14E-1B4764C56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F8AB85F0-651E-1D0E-BD6F-E6331841D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53440"/>
            <a:ext cx="10748212" cy="863066"/>
          </a:xfrm>
        </p:spPr>
        <p:txBody>
          <a:bodyPr>
            <a:normAutofit fontScale="90000"/>
          </a:bodyPr>
          <a:lstStyle/>
          <a:p>
            <a:r>
              <a:rPr lang="en-US" dirty="0"/>
              <a:t>Section 3: Advanced Attention &amp; Hybrid Models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793239E8-A004-ABF3-6FFF-43F64AB9C7D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46483" y="1716506"/>
            <a:ext cx="5342022" cy="559870"/>
          </a:xfrm>
        </p:spPr>
        <p:txBody>
          <a:bodyPr/>
          <a:lstStyle/>
          <a:p>
            <a:r>
              <a:rPr lang="en-US" dirty="0"/>
              <a:t>The State-of-Art Contenders.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2A7958-D8B3-6417-CA6F-C6D810A13D0A}"/>
              </a:ext>
            </a:extLst>
          </p:cNvPr>
          <p:cNvSpPr txBox="1"/>
          <p:nvPr/>
        </p:nvSpPr>
        <p:spPr>
          <a:xfrm>
            <a:off x="914398" y="2276376"/>
            <a:ext cx="91760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prstClr val="black">
                    <a:lumMod val="75000"/>
                    <a:lumOff val="25000"/>
                  </a:prstClr>
                </a:solidFill>
                <a:latin typeface="Bodoni MT"/>
                <a:ea typeface="+mj-ea"/>
                <a:cs typeface="+mj-cs"/>
              </a:rPr>
              <a:t>Model 11 – SE-Custom CNN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02A82A-EAD1-57BD-3A1E-676254A14B07}"/>
              </a:ext>
            </a:extLst>
          </p:cNvPr>
          <p:cNvSpPr txBox="1"/>
          <p:nvPr/>
        </p:nvSpPr>
        <p:spPr>
          <a:xfrm>
            <a:off x="946482" y="3283078"/>
            <a:ext cx="6320591" cy="3703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Architecture Type:</a:t>
            </a:r>
            <a:r>
              <a:rPr lang="en-US" b="0" i="0" dirty="0">
                <a:effectLst/>
              </a:rPr>
              <a:t> Custom CNN + Squeeze-and-Excitation (SE) Blocks.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Mechanism:</a:t>
            </a:r>
            <a:r>
              <a:rPr lang="en-US" b="0" i="0" dirty="0">
                <a:effectLst/>
              </a:rPr>
              <a:t> Chan</a:t>
            </a:r>
            <a:r>
              <a:rPr lang="en-US" dirty="0"/>
              <a:t>nel-wise attention (Recalibrates feature maps)</a:t>
            </a:r>
            <a:r>
              <a:rPr lang="en-US" b="0" i="0" dirty="0">
                <a:effectLst/>
              </a:rPr>
              <a:t>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Performance: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Accuracy:</a:t>
            </a:r>
            <a:r>
              <a:rPr lang="en-US" b="0" i="0" dirty="0">
                <a:effectLst/>
              </a:rPr>
              <a:t> </a:t>
            </a:r>
            <a:r>
              <a:rPr lang="en-US" b="1" dirty="0"/>
              <a:t>95</a:t>
            </a:r>
            <a:r>
              <a:rPr lang="en-US" b="1" i="0" dirty="0">
                <a:effectLst/>
              </a:rPr>
              <a:t>.0%</a:t>
            </a:r>
            <a:r>
              <a:rPr lang="en-US" b="0" i="0" dirty="0">
                <a:effectLst/>
              </a:rPr>
              <a:t> 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Training Time: </a:t>
            </a:r>
            <a:r>
              <a:rPr lang="en-US" b="0" i="0" dirty="0">
                <a:effectLst/>
              </a:rPr>
              <a:t>~6 minutes 47 seconds  </a:t>
            </a:r>
            <a:endParaRPr lang="en-US" b="1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dirty="0"/>
              <a:t>Improvement</a:t>
            </a:r>
            <a:r>
              <a:rPr lang="en-US" b="1" i="0" dirty="0">
                <a:effectLst/>
              </a:rPr>
              <a:t>:</a:t>
            </a:r>
            <a:r>
              <a:rPr lang="en-US" b="0" i="0" dirty="0">
                <a:effectLst/>
              </a:rPr>
              <a:t> +5% over standard Custom CNN</a:t>
            </a:r>
            <a:r>
              <a:rPr lang="en-US" dirty="0"/>
              <a:t>.</a:t>
            </a:r>
            <a:br>
              <a:rPr lang="en-US" b="0" i="0" dirty="0">
                <a:effectLst/>
              </a:rPr>
            </a:br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Analysis: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.Demonstrated that channel attention significantly boosts feature extraction in lightweight models.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dirty="0"/>
              <a:t>Lacked the ability to capture fine-grained textures distinguishing bacterial vs. fungal spots</a:t>
            </a:r>
            <a:r>
              <a:rPr lang="en-US" b="0" i="0" dirty="0">
                <a:effectLst/>
              </a:rPr>
              <a:t>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Verdict:</a:t>
            </a:r>
            <a:r>
              <a:rPr lang="en-US" b="0" i="0" dirty="0">
                <a:effectLst/>
              </a:rPr>
              <a:t> Excellent balance of custom design and high accuracy.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0E79D8-9BBC-147E-7BFF-95171BEFE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458" y="1101199"/>
            <a:ext cx="3926541" cy="17794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27C2DB-9F7C-7537-E4EC-F4149B7F3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171" y="1061781"/>
            <a:ext cx="3062287" cy="13094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552DEF-4889-3F8E-DD8F-4E1BCF7D3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8505" y="3926539"/>
            <a:ext cx="1664534" cy="14139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6A4294-2626-15D3-0D09-E833641990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4993" y="3130045"/>
            <a:ext cx="4038321" cy="256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03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63368-9D84-9F95-D0C0-2F4DBA1DF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461B5F3-8781-3000-89D7-5DA36BF3C650}"/>
              </a:ext>
            </a:extLst>
          </p:cNvPr>
          <p:cNvSpPr txBox="1"/>
          <p:nvPr/>
        </p:nvSpPr>
        <p:spPr>
          <a:xfrm>
            <a:off x="946482" y="845727"/>
            <a:ext cx="6689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prstClr val="black">
                    <a:lumMod val="75000"/>
                    <a:lumOff val="25000"/>
                  </a:prstClr>
                </a:solidFill>
                <a:latin typeface="Bodoni MT"/>
                <a:ea typeface="+mj-ea"/>
                <a:cs typeface="+mj-cs"/>
              </a:rPr>
              <a:t>Model 12 – SE-</a:t>
            </a:r>
            <a:r>
              <a:rPr lang="en-US" sz="48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Bodoni MT"/>
                <a:ea typeface="+mj-ea"/>
                <a:cs typeface="+mj-cs"/>
              </a:rPr>
              <a:t>ResNet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BD7B91-EF83-E861-1127-20E2A4F217F9}"/>
              </a:ext>
            </a:extLst>
          </p:cNvPr>
          <p:cNvSpPr txBox="1"/>
          <p:nvPr/>
        </p:nvSpPr>
        <p:spPr>
          <a:xfrm>
            <a:off x="946483" y="2368678"/>
            <a:ext cx="609600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Architecture Type:</a:t>
            </a:r>
            <a:r>
              <a:rPr lang="en-US" b="0" i="0" dirty="0">
                <a:effectLst/>
              </a:rPr>
              <a:t> </a:t>
            </a:r>
            <a:r>
              <a:rPr lang="en-US" b="0" i="0" dirty="0" err="1">
                <a:effectLst/>
              </a:rPr>
              <a:t>ResNet</a:t>
            </a:r>
            <a:r>
              <a:rPr lang="en-US" b="0" i="0" dirty="0">
                <a:effectLst/>
              </a:rPr>
              <a:t> backbone + SE Blocks.</a:t>
            </a:r>
            <a:endParaRPr lang="en-US" dirty="0"/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Performance: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Accuracy: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88</a:t>
            </a:r>
            <a:r>
              <a:rPr lang="en-US" b="0" i="0" dirty="0">
                <a:effectLst/>
              </a:rPr>
              <a:t>.0%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Training Time:</a:t>
            </a:r>
            <a:r>
              <a:rPr lang="en-US" b="0" i="0" dirty="0">
                <a:effectLst/>
              </a:rPr>
              <a:t> ~</a:t>
            </a:r>
            <a:r>
              <a:rPr lang="en-US" dirty="0"/>
              <a:t>7</a:t>
            </a:r>
            <a:r>
              <a:rPr lang="en-US" b="0" i="0" dirty="0">
                <a:effectLst/>
              </a:rPr>
              <a:t> minutes 26 seconds </a:t>
            </a:r>
            <a:br>
              <a:rPr lang="en-US" b="0" i="0" dirty="0">
                <a:effectLst/>
              </a:rPr>
            </a:br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Analysis: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dirty="0"/>
              <a:t>Surprisingly underperformed compared to the SE-Custom CNN</a:t>
            </a:r>
            <a:r>
              <a:rPr lang="en-US" b="0" i="0" dirty="0">
                <a:effectLst/>
              </a:rPr>
              <a:t>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Suggests that simply adding attention to a heavy backbone doesn’t guarantee success without careful tuning.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Verdict: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Disappointing implementation compared to custom SE.</a:t>
            </a:r>
            <a:endParaRPr lang="en-US" b="0" i="0" dirty="0">
              <a:effectLst/>
            </a:endParaRP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68281F-76F1-3689-520B-0597FC239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6074" y="1903916"/>
            <a:ext cx="2524523" cy="24224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D78150-1D15-FF24-B18D-1A579C28D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553" y="2031050"/>
            <a:ext cx="2524522" cy="2122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69D964-D728-7D6F-4999-086FA262B6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4151" y="4326345"/>
            <a:ext cx="4966446" cy="202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796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55C9A-04C6-09E6-CA71-659DE1600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0639B31-E332-6B57-37E0-3AD87A1F34C8}"/>
              </a:ext>
            </a:extLst>
          </p:cNvPr>
          <p:cNvSpPr txBox="1"/>
          <p:nvPr/>
        </p:nvSpPr>
        <p:spPr>
          <a:xfrm>
            <a:off x="946482" y="845727"/>
            <a:ext cx="6689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prstClr val="black">
                    <a:lumMod val="75000"/>
                    <a:lumOff val="25000"/>
                  </a:prstClr>
                </a:solidFill>
                <a:latin typeface="Bodoni MT"/>
                <a:ea typeface="+mj-ea"/>
                <a:cs typeface="+mj-cs"/>
              </a:rPr>
              <a:t>Model 13 – CBAM-CNN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0B6E59-F9C6-803F-83C5-9C3697AC92AF}"/>
              </a:ext>
            </a:extLst>
          </p:cNvPr>
          <p:cNvSpPr txBox="1"/>
          <p:nvPr/>
        </p:nvSpPr>
        <p:spPr>
          <a:xfrm>
            <a:off x="946483" y="2368678"/>
            <a:ext cx="6096000" cy="3377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Architecture Type: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CNN + Convolutional Block Attention Module</a:t>
            </a:r>
            <a:r>
              <a:rPr lang="en-US" b="0" i="0" dirty="0">
                <a:effectLst/>
              </a:rPr>
              <a:t>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dirty="0"/>
              <a:t>Mechanism</a:t>
            </a:r>
            <a:r>
              <a:rPr lang="en-US" b="1" i="0" dirty="0">
                <a:effectLst/>
              </a:rPr>
              <a:t>:</a:t>
            </a:r>
            <a:r>
              <a:rPr lang="en-US" b="0" i="0" dirty="0">
                <a:effectLst/>
              </a:rPr>
              <a:t> Spatial Attention (“Where to look”) + Channel Attention (“What to look for”).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Performance: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Accuracy:</a:t>
            </a:r>
            <a:r>
              <a:rPr lang="en-US" b="0" i="0" dirty="0">
                <a:effectLst/>
              </a:rPr>
              <a:t> 97.33%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Training Time:</a:t>
            </a:r>
            <a:r>
              <a:rPr lang="en-US" b="0" i="0" dirty="0">
                <a:effectLst/>
              </a:rPr>
              <a:t> ~25 seconds.</a:t>
            </a:r>
            <a:br>
              <a:rPr lang="en-US" b="0" i="0" dirty="0">
                <a:effectLst/>
              </a:rPr>
            </a:br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Analysis: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Outperformed all pure CNN</a:t>
            </a:r>
            <a:r>
              <a:rPr lang="en-US" dirty="0"/>
              <a:t>s (including InceptionV3)</a:t>
            </a:r>
            <a:r>
              <a:rPr lang="en-US" b="0" i="0" dirty="0">
                <a:effectLst/>
              </a:rPr>
              <a:t>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S</a:t>
            </a:r>
            <a:r>
              <a:rPr lang="en-US" dirty="0"/>
              <a:t>patial attention helped the model ignore background noise and focus purely on leaf lesions</a:t>
            </a:r>
            <a:r>
              <a:rPr lang="en-US" b="0" i="0" dirty="0">
                <a:effectLst/>
              </a:rPr>
              <a:t>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Verdict:</a:t>
            </a:r>
            <a:r>
              <a:rPr lang="en-US" b="0" i="0" dirty="0">
                <a:effectLst/>
              </a:rPr>
              <a:t> The Best pure CNN-based attention model.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E9D728-40D7-D4E5-7D53-C61CD0894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905" y="452761"/>
            <a:ext cx="4581525" cy="15954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0220B2-8B07-7B85-88EC-9E840BBBC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9460" y="2048224"/>
            <a:ext cx="2747970" cy="24176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734BEF-75A0-ECDF-E3A2-12269D7513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1836" y="2577403"/>
            <a:ext cx="2114202" cy="13593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2D4B1A-0E61-FA2A-309C-567997C7C2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9957" y="4050638"/>
            <a:ext cx="3010184" cy="203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4563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F947D-FA4B-426E-C1C6-2F49F2A9B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A9A2E63-EDD1-311E-0AB3-BECC646DE2BF}"/>
              </a:ext>
            </a:extLst>
          </p:cNvPr>
          <p:cNvSpPr txBox="1"/>
          <p:nvPr/>
        </p:nvSpPr>
        <p:spPr>
          <a:xfrm>
            <a:off x="946481" y="845727"/>
            <a:ext cx="1029903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prstClr val="black">
                    <a:lumMod val="75000"/>
                    <a:lumOff val="25000"/>
                  </a:prstClr>
                </a:solidFill>
                <a:latin typeface="Bodoni MT"/>
                <a:ea typeface="+mj-ea"/>
                <a:cs typeface="+mj-cs"/>
              </a:rPr>
              <a:t>Model 14 – Hybrid CNN-</a:t>
            </a:r>
            <a:r>
              <a:rPr lang="en-US" sz="48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Bodoni MT"/>
                <a:ea typeface="+mj-ea"/>
                <a:cs typeface="+mj-cs"/>
              </a:rPr>
              <a:t>Swin</a:t>
            </a:r>
            <a:r>
              <a:rPr lang="en-US" sz="4800" dirty="0">
                <a:solidFill>
                  <a:prstClr val="black">
                    <a:lumMod val="75000"/>
                    <a:lumOff val="25000"/>
                  </a:prstClr>
                </a:solidFill>
                <a:latin typeface="Bodoni MT"/>
                <a:ea typeface="+mj-ea"/>
                <a:cs typeface="+mj-cs"/>
              </a:rPr>
              <a:t> Transformer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F03C7A-BE92-3543-6AF3-FCAF69F5E981}"/>
              </a:ext>
            </a:extLst>
          </p:cNvPr>
          <p:cNvSpPr txBox="1"/>
          <p:nvPr/>
        </p:nvSpPr>
        <p:spPr>
          <a:xfrm>
            <a:off x="946483" y="2368678"/>
            <a:ext cx="6096000" cy="3788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Architecture Type:</a:t>
            </a:r>
            <a:r>
              <a:rPr lang="en-US" b="0" i="0" dirty="0">
                <a:effectLst/>
              </a:rPr>
              <a:t> </a:t>
            </a:r>
            <a:r>
              <a:rPr lang="en-US" dirty="0"/>
              <a:t>CNN Stem (Local features) + </a:t>
            </a:r>
            <a:r>
              <a:rPr lang="en-US" dirty="0" err="1"/>
              <a:t>Swin</a:t>
            </a:r>
            <a:r>
              <a:rPr lang="en-US" dirty="0"/>
              <a:t> Transformer Blocks (Global context)</a:t>
            </a:r>
            <a:r>
              <a:rPr lang="en-US" b="0" i="0" dirty="0">
                <a:effectLst/>
              </a:rPr>
              <a:t>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Performance: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Accuracy (Dataset 1):</a:t>
            </a:r>
            <a:r>
              <a:rPr lang="en-US" b="0" i="0" dirty="0">
                <a:effectLst/>
              </a:rPr>
              <a:t> 9</a:t>
            </a:r>
            <a:r>
              <a:rPr lang="en-US" dirty="0"/>
              <a:t>8</a:t>
            </a:r>
            <a:r>
              <a:rPr lang="en-US" b="0" i="0" dirty="0">
                <a:effectLst/>
              </a:rPr>
              <a:t>.0%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Training Time:</a:t>
            </a:r>
            <a:r>
              <a:rPr lang="en-US" b="0" i="0" dirty="0">
                <a:effectLst/>
              </a:rPr>
              <a:t> ~ 8 minutes 31 seconds 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Accuracy (Dataset 2 - Imbalanced): </a:t>
            </a:r>
            <a:r>
              <a:rPr lang="en-US" i="0" dirty="0">
                <a:effectLst/>
              </a:rPr>
              <a:t>93.0%</a:t>
            </a:r>
            <a:br>
              <a:rPr lang="en-US" b="0" i="0" dirty="0">
                <a:effectLst/>
              </a:rPr>
            </a:br>
            <a:endParaRPr lang="en-US" b="0" i="0" dirty="0">
              <a:effectLst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Analysis:</a:t>
            </a:r>
            <a:endParaRPr lang="en-US" b="0" i="0" dirty="0">
              <a:effectLst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dirty="0"/>
              <a:t>Synergy: </a:t>
            </a:r>
            <a:r>
              <a:rPr lang="en-US" dirty="0"/>
              <a:t>CNN captures edge; Transformer captures the holistic leaf structure</a:t>
            </a:r>
            <a:r>
              <a:rPr lang="en-US" b="0" i="0" dirty="0">
                <a:effectLst/>
              </a:rPr>
              <a:t>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dirty="0"/>
              <a:t>Robustness</a:t>
            </a:r>
            <a:r>
              <a:rPr lang="en-US" dirty="0"/>
              <a:t>: Maintained high accuracy even on the difficult, imbalanced dataset.</a:t>
            </a:r>
            <a:r>
              <a:rPr lang="en-US" i="0" dirty="0">
                <a:effectLst/>
              </a:rPr>
              <a:t>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Verdict:</a:t>
            </a:r>
            <a:r>
              <a:rPr lang="en-US" b="0" i="0" dirty="0">
                <a:effectLst/>
              </a:rPr>
              <a:t> </a:t>
            </a:r>
            <a:r>
              <a:rPr lang="en-US" b="1" i="0" dirty="0">
                <a:effectLst/>
              </a:rPr>
              <a:t>State-of-the-Art Performance</a:t>
            </a:r>
            <a:r>
              <a:rPr lang="en-US" b="0" i="0" dirty="0">
                <a:effectLst/>
              </a:rPr>
              <a:t>. </a:t>
            </a:r>
            <a:r>
              <a:rPr lang="en-US" i="0" dirty="0">
                <a:effectLst/>
              </a:rPr>
              <a:t>The recommended model for deployment.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FB771C-DB29-0CA4-9876-A60D759AE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12" y="1528551"/>
            <a:ext cx="4961529" cy="19004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5B56DD-A215-9792-9190-55CB6BCA3A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5690" y="2924494"/>
            <a:ext cx="1166521" cy="10138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3735AC-E14E-F73A-B050-E30A9EF022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8929" y="1512093"/>
            <a:ext cx="1418911" cy="11578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A96541-AA13-0D7C-DCCE-5DDE3891A6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11" y="3887983"/>
            <a:ext cx="4889024" cy="181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9067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48CF2D-F190-9E99-CFF0-77F419B7C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20445"/>
            <a:ext cx="5181600" cy="1257534"/>
          </a:xfrm>
        </p:spPr>
        <p:txBody>
          <a:bodyPr/>
          <a:lstStyle/>
          <a:p>
            <a:r>
              <a:rPr lang="en-US" dirty="0"/>
              <a:t>Robustness &amp; Generalization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CD4AB5A-A9F5-258D-E7D5-38F1D37AB1EC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 rot="5400000">
            <a:off x="6678706" y="1354137"/>
            <a:ext cx="4597307" cy="4597307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72CA68-4C0C-A48E-535A-98EE8F5BB2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A1C392-EDF1-DFB0-FBA8-FFB5844CBFE1}"/>
              </a:ext>
            </a:extLst>
          </p:cNvPr>
          <p:cNvSpPr txBox="1"/>
          <p:nvPr/>
        </p:nvSpPr>
        <p:spPr>
          <a:xfrm>
            <a:off x="914039" y="2309706"/>
            <a:ext cx="5181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Tested on </a:t>
            </a:r>
            <a:r>
              <a:rPr lang="en-US" b="1" dirty="0"/>
              <a:t>Dataset 2 (Imbalanced)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  </a:t>
            </a:r>
            <a:r>
              <a:rPr lang="en-US" b="1" dirty="0"/>
              <a:t>Challenge : </a:t>
            </a:r>
            <a:r>
              <a:rPr lang="en-US" dirty="0"/>
              <a:t>Standard models Transformer maintained 93% accuracy on the </a:t>
            </a:r>
            <a:br>
              <a:rPr lang="en-US" dirty="0"/>
            </a:br>
            <a:r>
              <a:rPr lang="en-US" dirty="0"/>
              <a:t>  imbalanced dataset.</a:t>
            </a:r>
          </a:p>
          <a:p>
            <a:br>
              <a:rPr lang="en-US" b="1" dirty="0"/>
            </a:br>
            <a:r>
              <a:rPr lang="en-US" b="1" dirty="0"/>
              <a:t>  Result: </a:t>
            </a:r>
            <a:r>
              <a:rPr lang="en-US" dirty="0"/>
              <a:t>The Hybrid </a:t>
            </a:r>
            <a:r>
              <a:rPr lang="en-US" dirty="0" err="1"/>
              <a:t>Swin</a:t>
            </a:r>
            <a:r>
              <a:rPr lang="en-US" dirty="0"/>
              <a:t> Transformer maintained </a:t>
            </a:r>
            <a:br>
              <a:rPr lang="en-US" dirty="0"/>
            </a:br>
            <a:r>
              <a:rPr lang="en-US" dirty="0"/>
              <a:t>  93% accuracy on the </a:t>
            </a:r>
            <a:br>
              <a:rPr lang="en-US" dirty="0"/>
            </a:br>
            <a:r>
              <a:rPr lang="en-US" dirty="0"/>
              <a:t>  imbalanced dataset.</a:t>
            </a:r>
          </a:p>
          <a:p>
            <a:endParaRPr lang="en-US" dirty="0"/>
          </a:p>
          <a:p>
            <a:r>
              <a:rPr lang="en-US" b="1" dirty="0"/>
              <a:t>  Conclusion: </a:t>
            </a:r>
            <a:r>
              <a:rPr lang="en-US" dirty="0"/>
              <a:t>The Hybrid model is not just accurate; it </a:t>
            </a:r>
            <a:br>
              <a:rPr lang="en-US" dirty="0"/>
            </a:br>
            <a:r>
              <a:rPr lang="en-US" dirty="0"/>
              <a:t>  is robust for real-world </a:t>
            </a:r>
            <a:br>
              <a:rPr lang="en-US" dirty="0"/>
            </a:br>
            <a:r>
              <a:rPr lang="en-US" dirty="0"/>
              <a:t>  scenarios.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193563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0A9F6B-B714-24A4-1731-04239F0C6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843" y="914400"/>
            <a:ext cx="4939604" cy="1588169"/>
          </a:xfrm>
        </p:spPr>
        <p:txBody>
          <a:bodyPr>
            <a:normAutofit fontScale="90000"/>
          </a:bodyPr>
          <a:lstStyle/>
          <a:p>
            <a:r>
              <a:rPr lang="en-US" dirty="0"/>
              <a:t>Discussion – Architecture Insights</a:t>
            </a:r>
          </a:p>
        </p:txBody>
      </p:sp>
      <p:pic>
        <p:nvPicPr>
          <p:cNvPr id="15" name="Picture Placeholder 6">
            <a:extLst>
              <a:ext uri="{FF2B5EF4-FFF2-40B4-BE49-F238E27FC236}">
                <a16:creationId xmlns:a16="http://schemas.microsoft.com/office/drawing/2014/main" id="{AAA2A7D6-6F43-AFA1-3A7C-846D1371125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5988" b="5988"/>
          <a:stretch/>
        </p:blipFill>
        <p:spPr/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D350C2-47A5-211F-A685-9ACD21117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F322A9-7927-4C0F-31ED-70AC90021063}"/>
              </a:ext>
            </a:extLst>
          </p:cNvPr>
          <p:cNvSpPr txBox="1"/>
          <p:nvPr/>
        </p:nvSpPr>
        <p:spPr>
          <a:xfrm>
            <a:off x="6337843" y="2527280"/>
            <a:ext cx="510017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InceptionV3 : </a:t>
            </a:r>
            <a:r>
              <a:rPr lang="en-US" dirty="0"/>
              <a:t>Best pure CNN. Multi-</a:t>
            </a:r>
            <a:r>
              <a:rPr lang="en-US" dirty="0" err="1"/>
              <a:t>sacle</a:t>
            </a:r>
            <a:r>
              <a:rPr lang="en-US" dirty="0"/>
              <a:t> processing helped detect disease spots of varying sizes.</a:t>
            </a:r>
            <a:br>
              <a:rPr lang="en-US" b="0" dirty="0"/>
            </a:br>
            <a:endParaRPr lang="en-US" dirty="0"/>
          </a:p>
          <a:p>
            <a:r>
              <a:rPr lang="en-US" b="1" dirty="0"/>
              <a:t>AlexNet (92%) : </a:t>
            </a:r>
            <a:r>
              <a:rPr lang="en-US" dirty="0"/>
              <a:t> Surprisingly beat modern </a:t>
            </a:r>
            <a:r>
              <a:rPr lang="en-US" dirty="0" err="1"/>
              <a:t>EfficientNet</a:t>
            </a:r>
            <a:r>
              <a:rPr lang="en-US" dirty="0"/>
              <a:t> (87%).</a:t>
            </a:r>
            <a:br>
              <a:rPr lang="en-US" b="0" dirty="0"/>
            </a:br>
            <a:r>
              <a:rPr lang="en-US" b="0" dirty="0"/>
              <a:t>         </a:t>
            </a:r>
            <a:r>
              <a:rPr lang="en-US" b="1" dirty="0"/>
              <a:t>Reason : </a:t>
            </a:r>
            <a:r>
              <a:rPr lang="en-US" dirty="0"/>
              <a:t>Simpler inductive biases (larger filters) </a:t>
            </a:r>
            <a:br>
              <a:rPr lang="en-US" dirty="0"/>
            </a:br>
            <a:r>
              <a:rPr lang="en-US" dirty="0"/>
              <a:t>         worked better for this specific small dataset than </a:t>
            </a:r>
            <a:br>
              <a:rPr lang="en-US" dirty="0"/>
            </a:br>
            <a:r>
              <a:rPr lang="en-US" dirty="0"/>
              <a:t>         complex compound scaling.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Attention Mechanisms : </a:t>
            </a:r>
            <a:r>
              <a:rPr lang="en-US" dirty="0"/>
              <a:t>CBAM and SE blocks consistently improved performance over base model by focusing on “where” the disease is.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3862633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652A1E-B3F7-E1B2-76ED-8F78E74B9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85113"/>
            <a:ext cx="10515600" cy="1531525"/>
          </a:xfrm>
        </p:spPr>
        <p:txBody>
          <a:bodyPr/>
          <a:lstStyle/>
          <a:p>
            <a:r>
              <a:rPr lang="en-US" dirty="0"/>
              <a:t>Explainable AI (Grad-CAM)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65E832F-DC64-28CC-592D-2CA44C5718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29640" y="2153285"/>
            <a:ext cx="6786613" cy="3500438"/>
          </a:xfrm>
        </p:spPr>
        <p:txBody>
          <a:bodyPr/>
          <a:lstStyle/>
          <a:p>
            <a:r>
              <a:rPr lang="en-US" noProof="1"/>
              <a:t>Visuals.</a:t>
            </a:r>
          </a:p>
          <a:p>
            <a:r>
              <a:rPr lang="en-US" noProof="1"/>
              <a:t>Goal: Open the “Black Box.”</a:t>
            </a:r>
          </a:p>
          <a:p>
            <a:r>
              <a:rPr lang="en-US" noProof="1"/>
              <a:t>Observation:</a:t>
            </a:r>
          </a:p>
          <a:p>
            <a:r>
              <a:rPr lang="en-US" noProof="1"/>
              <a:t>Hybrid/CBAM: Heatmaps focus tightly on lesions and necrotic spots.</a:t>
            </a:r>
          </a:p>
          <a:p>
            <a:r>
              <a:rPr lang="en-US" noProof="1"/>
              <a:t>Weaker Models: Validates clinical reliability for precision agriculture.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38ADE9-D6F5-84F7-8489-6CDEB832E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500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F8F842-D95F-32E4-59B0-60283CC86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85113"/>
            <a:ext cx="10515600" cy="1531525"/>
          </a:xfrm>
        </p:spPr>
        <p:txBody>
          <a:bodyPr/>
          <a:lstStyle/>
          <a:p>
            <a:r>
              <a:rPr lang="en-US" dirty="0"/>
              <a:t>Conclusion &amp; Future Work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085EB0-3E37-ABCC-75DA-43416C56B4C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29641" y="2153285"/>
            <a:ext cx="10515600" cy="35004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Conclusion :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b="0" dirty="0"/>
              <a:t>InceptionV3 is the most efficient standard model.</a:t>
            </a:r>
            <a:br>
              <a:rPr lang="en-US" b="0" dirty="0"/>
            </a:br>
            <a:br>
              <a:rPr lang="en-US" b="0" dirty="0"/>
            </a:br>
            <a:r>
              <a:rPr lang="en-US" b="0" dirty="0"/>
              <a:t>        Hybrid CNN-</a:t>
            </a:r>
            <a:r>
              <a:rPr lang="en-US" b="0" dirty="0" err="1"/>
              <a:t>Swin</a:t>
            </a:r>
            <a:r>
              <a:rPr lang="en-US" b="0" dirty="0"/>
              <a:t> Transformer is the state-of-state-art  (98%) for this task.</a:t>
            </a:r>
            <a:br>
              <a:rPr lang="en-US" b="0" dirty="0"/>
            </a:br>
            <a:br>
              <a:rPr lang="en-US" b="0" dirty="0"/>
            </a:br>
            <a:r>
              <a:rPr lang="en-US" b="0" dirty="0"/>
              <a:t>        Integrating local and global attention is key for plant disease diagnosis.</a:t>
            </a:r>
          </a:p>
          <a:p>
            <a:r>
              <a:rPr lang="en-US" dirty="0"/>
              <a:t>Future Work :</a:t>
            </a:r>
          </a:p>
          <a:p>
            <a:pPr marL="0" indent="0">
              <a:buNone/>
            </a:pPr>
            <a:r>
              <a:rPr lang="en-US" dirty="0"/>
              <a:t>              Mobile Deployment : </a:t>
            </a:r>
            <a:r>
              <a:rPr lang="en-US" b="0" dirty="0"/>
              <a:t>Model quantization for edge devices.</a:t>
            </a:r>
          </a:p>
          <a:p>
            <a:pPr marL="0" indent="0">
              <a:buNone/>
            </a:pPr>
            <a:r>
              <a:rPr lang="en-US" dirty="0"/>
              <a:t>              Segmentation : </a:t>
            </a:r>
            <a:r>
              <a:rPr lang="en-US" b="0" dirty="0"/>
              <a:t>Moving from classification to segmentation (U-Net) to measure infection severity.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Dataset Expansion : </a:t>
            </a:r>
            <a:r>
              <a:rPr lang="en-US" b="0" dirty="0"/>
              <a:t>More lighting conditions and disease types.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B27BAD-9602-6B60-C782-2749DB990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3609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4C19E8-9349-E5B5-40F0-219E9B89B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226033"/>
            <a:ext cx="10331450" cy="1531525"/>
          </a:xfrm>
        </p:spPr>
        <p:txBody>
          <a:bodyPr/>
          <a:lstStyle/>
          <a:p>
            <a:r>
              <a:rPr lang="en-US" dirty="0"/>
              <a:t>Final Comparative Summary</a:t>
            </a:r>
          </a:p>
        </p:txBody>
      </p:sp>
      <p:graphicFrame>
        <p:nvGraphicFramePr>
          <p:cNvPr id="5" name="Table 9">
            <a:extLst>
              <a:ext uri="{FF2B5EF4-FFF2-40B4-BE49-F238E27FC236}">
                <a16:creationId xmlns:a16="http://schemas.microsoft.com/office/drawing/2014/main" id="{78A680D3-D9D6-E622-5917-31D12B63E561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2350505395"/>
              </p:ext>
            </p:extLst>
          </p:nvPr>
        </p:nvGraphicFramePr>
        <p:xfrm>
          <a:off x="929640" y="1567195"/>
          <a:ext cx="10058400" cy="468812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931265">
                  <a:extLst>
                    <a:ext uri="{9D8B030D-6E8A-4147-A177-3AD203B41FA5}">
                      <a16:colId xmlns:a16="http://schemas.microsoft.com/office/drawing/2014/main" val="1966753741"/>
                    </a:ext>
                  </a:extLst>
                </a:gridCol>
                <a:gridCol w="3328146">
                  <a:extLst>
                    <a:ext uri="{9D8B030D-6E8A-4147-A177-3AD203B41FA5}">
                      <a16:colId xmlns:a16="http://schemas.microsoft.com/office/drawing/2014/main" val="3446012419"/>
                    </a:ext>
                  </a:extLst>
                </a:gridCol>
                <a:gridCol w="1567926">
                  <a:extLst>
                    <a:ext uri="{9D8B030D-6E8A-4147-A177-3AD203B41FA5}">
                      <a16:colId xmlns:a16="http://schemas.microsoft.com/office/drawing/2014/main" val="4052646397"/>
                    </a:ext>
                  </a:extLst>
                </a:gridCol>
                <a:gridCol w="1893346">
                  <a:extLst>
                    <a:ext uri="{9D8B030D-6E8A-4147-A177-3AD203B41FA5}">
                      <a16:colId xmlns:a16="http://schemas.microsoft.com/office/drawing/2014/main" val="1935352797"/>
                    </a:ext>
                  </a:extLst>
                </a:gridCol>
                <a:gridCol w="2337717">
                  <a:extLst>
                    <a:ext uri="{9D8B030D-6E8A-4147-A177-3AD203B41FA5}">
                      <a16:colId xmlns:a16="http://schemas.microsoft.com/office/drawing/2014/main" val="1218263486"/>
                    </a:ext>
                  </a:extLst>
                </a:gridCol>
              </a:tblGrid>
              <a:tr h="50600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Rank 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Model Name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Test Accuracy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Architecture Type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Training Time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0773105"/>
                  </a:ext>
                </a:extLst>
              </a:tr>
              <a:tr h="50600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Hybrid CNN-</a:t>
                      </a:r>
                      <a:r>
                        <a:rPr lang="en-US" sz="1800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Swin</a:t>
                      </a: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 Transformer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98.00%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Hybrid Transformer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8m 31s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2911372"/>
                  </a:ext>
                </a:extLst>
              </a:tr>
              <a:tr h="50600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CBAM-CNN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97.33%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Attention CNN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~25s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20011"/>
                  </a:ext>
                </a:extLst>
              </a:tr>
              <a:tr h="50600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InceptionV3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97.00%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Transfer Learning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3.09m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236379"/>
                  </a:ext>
                </a:extLst>
              </a:tr>
              <a:tr h="50600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SE-Custom</a:t>
                      </a:r>
                      <a:r>
                        <a:rPr lang="en-US" sz="1800" b="0" u="none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CNN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95.00%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Attention CNN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6m 47s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0183823"/>
                  </a:ext>
                </a:extLst>
              </a:tr>
              <a:tr h="50600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ResNet50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94.00%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Transfer Learning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1.56m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6925192"/>
                  </a:ext>
                </a:extLst>
              </a:tr>
              <a:tr h="50600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MobileNetV2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94.00%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Transfer Learning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1.44m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4625703"/>
                  </a:ext>
                </a:extLst>
              </a:tr>
              <a:tr h="50600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DenseNet121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94.00%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Transfer Learning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2.19m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3372659"/>
                  </a:ext>
                </a:extLst>
              </a:tr>
              <a:tr h="50600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AlexNet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91.00%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Transfer Learning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~50s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840403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658D41-330C-C53F-DA7F-276C18D267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0828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961152-381E-D654-15E9-7C4F0960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655320"/>
            <a:ext cx="4572000" cy="54864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D569DC-1A68-51FF-4CCE-F334F8B3D5A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75413" y="2773680"/>
            <a:ext cx="4572000" cy="336804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Reference  of the dataset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-apple-system"/>
              </a:rPr>
              <a:t> Dataset 1 (Balanced)</a:t>
            </a: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 link: </a:t>
            </a:r>
            <a:b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</a:br>
            <a:r>
              <a:rPr lang="en-US" b="0" i="0" u="sng" dirty="0">
                <a:solidFill>
                  <a:schemeClr val="tx1"/>
                </a:solidFill>
                <a:effectLst/>
                <a:latin typeface="-apple-syste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https://data.mendeley.com/datasets/g7fpgj57wc/2</a:t>
            </a:r>
            <a:endParaRPr lang="en-US" b="0" i="0" dirty="0">
              <a:solidFill>
                <a:schemeClr val="tx1"/>
              </a:solidFill>
              <a:effectLst/>
              <a:latin typeface="-apple-system"/>
            </a:endParaRP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-apple-system"/>
              </a:rPr>
              <a:t> Dataset 2 (Imbalanced)</a:t>
            </a: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 link: </a:t>
            </a:r>
            <a:b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</a:br>
            <a:r>
              <a:rPr lang="en-US" b="0" i="0" u="sng" dirty="0">
                <a:solidFill>
                  <a:schemeClr val="tx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https://data.mendeley.com/datasets/vpzkntzjty/1</a:t>
            </a:r>
            <a:endParaRPr lang="en-US" b="0" i="0" dirty="0">
              <a:solidFill>
                <a:schemeClr val="tx1"/>
              </a:solidFill>
              <a:effectLst/>
              <a:latin typeface="-apple-system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84453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B09D"/>
      </a:accent1>
      <a:accent2>
        <a:srgbClr val="FFD7C7"/>
      </a:accent2>
      <a:accent3>
        <a:srgbClr val="FFE9E0"/>
      </a:accent3>
      <a:accent4>
        <a:srgbClr val="55736D"/>
      </a:accent4>
      <a:accent5>
        <a:srgbClr val="88A88E"/>
      </a:accent5>
      <a:accent6>
        <a:srgbClr val="E6FFFB"/>
      </a:accent6>
      <a:hlink>
        <a:srgbClr val="0563C1"/>
      </a:hlink>
      <a:folHlink>
        <a:srgbClr val="954F72"/>
      </a:folHlink>
    </a:clrScheme>
    <a:fontScheme name="Custom 116">
      <a:majorFont>
        <a:latin typeface="Bodoni MT"/>
        <a:ea typeface=""/>
        <a:cs typeface=""/>
      </a:majorFont>
      <a:minorFont>
        <a:latin typeface="Sourc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722518_win32_SD_v11" id="{6E195932-91F4-4861-8538-848409B20D97}" vid="{F5C82CE7-F5AC-4E30-975C-FD228ED220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37CDA33-9251-49D0-A51A-7888AA3E063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F796806-D3A7-49C6-9335-B8A0B9307F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E4FA29-61E2-42A6-9537-732ED628B6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Light sales pitch presentation</Template>
  <TotalTime>1189</TotalTime>
  <Words>2004</Words>
  <Application>Microsoft Office PowerPoint</Application>
  <PresentationFormat>Widescreen</PresentationFormat>
  <Paragraphs>322</Paragraphs>
  <Slides>28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-apple-system</vt:lpstr>
      <vt:lpstr>Arial</vt:lpstr>
      <vt:lpstr>Bodoni MT</vt:lpstr>
      <vt:lpstr>Calibri</vt:lpstr>
      <vt:lpstr>Inter</vt:lpstr>
      <vt:lpstr>Source Sans Pro Light</vt:lpstr>
      <vt:lpstr>Custom</vt:lpstr>
      <vt:lpstr>Detailed Model Analysis for Betel Leaf Disease Classification  </vt:lpstr>
      <vt:lpstr>Team Members </vt:lpstr>
      <vt:lpstr>Introduction &amp; Problem Statement</vt:lpstr>
      <vt:lpstr>Research Objectives </vt:lpstr>
      <vt:lpstr>Evaluation Metrics &amp; Protocol</vt:lpstr>
      <vt:lpstr>Dataset Overview</vt:lpstr>
      <vt:lpstr>Methodology – The Models</vt:lpstr>
      <vt:lpstr>Proposed Architecture:  Hybrid CNN-Swin Transformer</vt:lpstr>
      <vt:lpstr>Section 1: Transfer Learning Baselines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Section 2: Custom Architectures</vt:lpstr>
      <vt:lpstr>PowerPoint Presentation</vt:lpstr>
      <vt:lpstr>Section 3: Advanced Attention &amp; Hybrid Models</vt:lpstr>
      <vt:lpstr>PowerPoint Presentation</vt:lpstr>
      <vt:lpstr>PowerPoint Presentation</vt:lpstr>
      <vt:lpstr>PowerPoint Presentation</vt:lpstr>
      <vt:lpstr>Robustness &amp; Generalization</vt:lpstr>
      <vt:lpstr>Discussion – Architecture Insights</vt:lpstr>
      <vt:lpstr>Explainable AI (Grad-CAM)</vt:lpstr>
      <vt:lpstr>Conclusion &amp; Future Work</vt:lpstr>
      <vt:lpstr>Final Comparative 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Debnath</dc:creator>
  <cp:lastModifiedBy>Aditya Debnath</cp:lastModifiedBy>
  <cp:revision>48</cp:revision>
  <dcterms:created xsi:type="dcterms:W3CDTF">2025-12-28T13:55:15Z</dcterms:created>
  <dcterms:modified xsi:type="dcterms:W3CDTF">2025-12-29T22:09:07Z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